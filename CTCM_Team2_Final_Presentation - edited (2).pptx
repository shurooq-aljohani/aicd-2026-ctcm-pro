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72" r:id="rId9"/>
    <p:sldId id="273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1" r:id="rId19"/>
    <p:sldId id="270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475" autoAdjust="0"/>
  </p:normalViewPr>
  <p:slideViewPr>
    <p:cSldViewPr snapToGrid="0">
      <p:cViewPr varScale="1">
        <p:scale>
          <a:sx n="64" d="100"/>
          <a:sy n="64" d="100"/>
        </p:scale>
        <p:origin x="96" y="6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Qwen</c:v>
          </c:tx>
          <c:spPr>
            <a:solidFill>
              <a:srgbClr val="B7A1FF"/>
            </a:solidFill>
            <a:ln w="0"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 b="1">
                    <a:solidFill>
                      <a:srgbClr val="F5F7FD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Tagging composite*</c:v>
                </c:pt>
                <c:pt idx="1">
                  <c:v>Difficulty accuracy</c:v>
                </c:pt>
                <c:pt idx="2">
                  <c:v>Tag semantic F1</c:v>
                </c:pt>
                <c:pt idx="3">
                  <c:v>Skills Jaccard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0.41799999999999998</c:v>
                </c:pt>
                <c:pt idx="1">
                  <c:v>0.66700000000000004</c:v>
                </c:pt>
                <c:pt idx="2">
                  <c:v>0.434</c:v>
                </c:pt>
                <c:pt idx="3">
                  <c:v>0.27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175-4905-8438-E075D55E3D84}"/>
            </c:ext>
          </c:extLst>
        </c:ser>
        <c:ser>
          <c:idx val="1"/>
          <c:order val="1"/>
          <c:tx>
            <c:v>GPT-4o-mini</c:v>
          </c:tx>
          <c:spPr>
            <a:solidFill>
              <a:srgbClr val="66D9E5"/>
            </a:solidFill>
            <a:ln w="0"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 b="1">
                    <a:solidFill>
                      <a:srgbClr val="F5F7FD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Tagging composite*</c:v>
                </c:pt>
                <c:pt idx="1">
                  <c:v>Difficulty accuracy</c:v>
                </c:pt>
                <c:pt idx="2">
                  <c:v>Tag semantic F1</c:v>
                </c:pt>
                <c:pt idx="3">
                  <c:v>Skills Jaccard</c:v>
                </c:pt>
              </c:strCache>
            </c:strRef>
          </c:cat>
          <c:val>
            <c:numRef>
              <c:f>'Chart Data'!$D$2:$D$5</c:f>
              <c:numCache>
                <c:formatCode>0.0%</c:formatCode>
                <c:ptCount val="4"/>
                <c:pt idx="0">
                  <c:v>0.501</c:v>
                </c:pt>
                <c:pt idx="1">
                  <c:v>0.83299999999999996</c:v>
                </c:pt>
                <c:pt idx="2">
                  <c:v>0.53400000000000003</c:v>
                </c:pt>
                <c:pt idx="3">
                  <c:v>0.245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175-4905-8438-E075D55E3D8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33435E"/>
            </a:solidFill>
          </a:ln>
        </c:spPr>
        <c:txPr>
          <a:bodyPr anchorCtr="1"/>
          <a:lstStyle/>
          <a:p>
            <a:pPr>
              <a:defRPr sz="1575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5715">
              <a:solidFill>
                <a:srgbClr val="33435E"/>
              </a:solidFill>
            </a:ln>
          </c:spPr>
        </c:majorGridlines>
        <c:numFmt formatCode="0.0%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  <c:majorUnit val="0.25"/>
      </c:valAx>
      <c:spPr>
        <a:solidFill>
          <a:srgbClr val="0B1121"/>
        </a:solidFill>
        <a:ln w="0">
          <a:noFill/>
        </a:ln>
      </c:spPr>
    </c:plotArea>
    <c:legend>
      <c:legendPos val="t"/>
      <c:overlay val="0"/>
      <c:txPr>
        <a:bodyPr anchorCtr="1"/>
        <a:lstStyle/>
        <a:p>
          <a:pPr>
            <a:defRPr sz="1725">
              <a:solidFill>
                <a:srgbClr val="F5F7FD"/>
              </a:solidFill>
              <a:latin typeface="DejaVu Sans"/>
              <a:ea typeface="DejaVu Sans"/>
              <a:cs typeface="DejaVu Sans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B1121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Average E2E latency</c:v>
          </c:tx>
          <c:spPr>
            <a:solidFill>
              <a:srgbClr val="B7A1FF"/>
            </a:solidFill>
            <a:ln w="0"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B7A1FF"/>
              </a:solidFill>
            </c:spPr>
            <c:extLst>
              <c:ext xmlns:c16="http://schemas.microsoft.com/office/drawing/2014/chart" uri="{C3380CC4-5D6E-409C-BE32-E72D297353CC}">
                <c16:uniqueId val="{00000001-BF37-4FAD-88A8-6B6F8CB0D1E3}"/>
              </c:ext>
            </c:extLst>
          </c:dPt>
          <c:dPt>
            <c:idx val="1"/>
            <c:invertIfNegative val="0"/>
            <c:bubble3D val="0"/>
            <c:spPr>
              <a:solidFill>
                <a:srgbClr val="66D9E5"/>
              </a:solidFill>
            </c:spPr>
            <c:extLst>
              <c:ext xmlns:c16="http://schemas.microsoft.com/office/drawing/2014/chart" uri="{C3380CC4-5D6E-409C-BE32-E72D297353CC}">
                <c16:uniqueId val="{00000003-BF37-4FAD-88A8-6B6F8CB0D1E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75" b="1">
                    <a:solidFill>
                      <a:srgbClr val="F5F7FD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Qwen</c:v>
                </c:pt>
                <c:pt idx="1">
                  <c:v>GPT-4o-mini</c:v>
                </c:pt>
              </c:strCache>
            </c:strRef>
          </c:cat>
          <c:val>
            <c:numRef>
              <c:f>'Chart Data'!$B$2:$B$3</c:f>
              <c:numCache>
                <c:formatCode>0.00" s"</c:formatCode>
                <c:ptCount val="2"/>
                <c:pt idx="0">
                  <c:v>56.39</c:v>
                </c:pt>
                <c:pt idx="1">
                  <c:v>71.98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BF37-4FAD-88A8-6B6F8CB0D1E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33435E"/>
            </a:solidFill>
          </a:ln>
        </c:spPr>
        <c:txPr>
          <a:bodyPr anchorCtr="1"/>
          <a:lstStyle/>
          <a:p>
            <a:pPr>
              <a:defRPr sz="165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33435E"/>
              </a:solidFill>
            </a:ln>
          </c:spPr>
        </c:majorGridlines>
        <c:numFmt formatCode="0.00&quot; s&quot;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  <c:majorUnit val="25"/>
      </c:valAx>
      <c:spPr>
        <a:solidFill>
          <a:srgbClr val="0B1121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B1121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2B6DB-073F-A153-BAB5-CFFAE81C4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BE47D4-50B8-EE45-DDC7-0F6BA2D52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1E05D1-51D7-462A-FF1A-B3D67F7A8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673F1-98DA-19BA-FA9C-5C20D71B6BE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3381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90010-61CA-2D26-6912-98CD43505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A5F33B-5AD5-DC96-4E32-5102E69F5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21C6C-742D-0F24-EE80-08154EB32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77580-4877-784E-E66D-EBC7FD657EB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26511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ABFB2-419E-5056-A052-C1B670BF0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13EEC-E4A4-C540-8669-CCABAB427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26AA1-0D1C-6FC7-E4DF-EB5F34701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B755F-C9D0-21A3-91F0-DB94317E420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361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FEE6D-5DDE-771C-BB2F-928B68376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F3C19-E22B-401A-05F0-DEE03E09C5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42A91-82D4-0D5B-B863-164BF94CF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C3B1B-2399-5A98-D4A3-85EB5C6FF31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69528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0746D-84BA-C83E-A90F-046964AF7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3CC32-7D44-BDE5-996F-439F5B8B3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9E506F-9771-2E05-0AD1-3C6D8A486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D6333-424F-F2BA-AC07-81A02AF7F2A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978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-1">
            <a:extLst>
              <a:ext uri="{FF2B5EF4-FFF2-40B4-BE49-F238E27FC236}">
                <a16:creationId xmlns:a16="http://schemas.microsoft.com/office/drawing/2014/main" id="{0FD1F2B3-70C7-438F-A763-CE26FD37AFD5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10287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66D9E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66D9E5"/>
                </a:solidFill>
                <a:latin typeface="DejaVu Sans"/>
                <a:ea typeface="DejaVu Sans"/>
                <a:cs typeface="DejaVu Sans"/>
              </a:rPr>
              <a:t>AI DATA CENTER OPERATIONS</a:t>
            </a:r>
          </a:p>
        </p:txBody>
      </p:sp>
      <p:sp>
        <p:nvSpPr>
          <p:cNvPr id="3" name="title-2">
            <a:extLst>
              <a:ext uri="{FF2B5EF4-FFF2-40B4-BE49-F238E27FC236}">
                <a16:creationId xmlns:a16="http://schemas.microsoft.com/office/drawing/2014/main" id="{A5F3D55B-C77C-4AE5-BF1B-2E1999D26A27}"/>
              </a:ext>
            </a:extLst>
          </p:cNvPr>
          <p:cNvSpPr>
            <a:spLocks noGrp="1"/>
          </p:cNvSpPr>
          <p:nvPr/>
        </p:nvSpPr>
        <p:spPr>
          <a:xfrm>
            <a:off x="552450" y="1476375"/>
            <a:ext cx="110490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45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2450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CTCM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4E974A50-F8F8-49FB-98F9-C22FB3CB71C0}"/>
              </a:ext>
            </a:extLst>
          </p:cNvPr>
          <p:cNvSpPr>
            <a:spLocks noGrp="1"/>
          </p:cNvSpPr>
          <p:nvPr/>
        </p:nvSpPr>
        <p:spPr>
          <a:xfrm>
            <a:off x="647700" y="3371850"/>
            <a:ext cx="104775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3600" b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Content Tagging &amp;</a:t>
            </a:r>
          </a:p>
          <a:p>
            <a:pPr algn="l">
              <a:defRPr sz="3600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3600" b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Competency Mapping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EE3A9096-0DDF-4B0D-AFDF-1DADD0D1FBBB}"/>
              </a:ext>
            </a:extLst>
          </p:cNvPr>
          <p:cNvSpPr>
            <a:spLocks noGrp="1"/>
          </p:cNvSpPr>
          <p:nvPr/>
        </p:nvSpPr>
        <p:spPr>
          <a:xfrm>
            <a:off x="666750" y="5381625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Team 2   /   Capstone Track 7   /   AIDC 2026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0D573CD9-4ADF-4B00-BE06-8600ECE28DA6}"/>
              </a:ext>
            </a:extLst>
          </p:cNvPr>
          <p:cNvSpPr>
            <a:spLocks noGrp="1"/>
          </p:cNvSpPr>
          <p:nvPr/>
        </p:nvSpPr>
        <p:spPr>
          <a:xfrm>
            <a:off x="666750" y="5876925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Noura, Hadeel, Shurooq, Duaa</a:t>
            </a:r>
          </a:p>
        </p:txBody>
      </p:sp>
    </p:spTree>
    <p:extLst>
      <p:ext uri="{BB962C8B-B14F-4D97-AF65-F5344CB8AC3E}">
        <p14:creationId xmlns:p14="http://schemas.microsoft.com/office/powerpoint/2010/main" val="1683440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-6">
            <a:extLst>
              <a:ext uri="{FF2B5EF4-FFF2-40B4-BE49-F238E27FC236}">
                <a16:creationId xmlns:a16="http://schemas.microsoft.com/office/drawing/2014/main" id="{3257A06C-0554-4E78-9BE5-A7A48F447A3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Agenda</a:t>
            </a:r>
          </a:p>
        </p:txBody>
      </p:sp>
      <p:sp>
        <p:nvSpPr>
          <p:cNvPr id="2" name="page-7">
            <a:extLst>
              <a:ext uri="{FF2B5EF4-FFF2-40B4-BE49-F238E27FC236}">
                <a16:creationId xmlns:a16="http://schemas.microsoft.com/office/drawing/2014/main" id="{B4140E38-C36F-4756-80CE-6402C3CC1A1A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text-8">
            <a:extLst>
              <a:ext uri="{FF2B5EF4-FFF2-40B4-BE49-F238E27FC236}">
                <a16:creationId xmlns:a16="http://schemas.microsoft.com/office/drawing/2014/main" id="{D42EEECD-5584-4A75-9AE8-584A0BFC3480}"/>
              </a:ext>
            </a:extLst>
          </p:cNvPr>
          <p:cNvSpPr>
            <a:spLocks noGrp="1"/>
          </p:cNvSpPr>
          <p:nvPr/>
        </p:nvSpPr>
        <p:spPr>
          <a:xfrm>
            <a:off x="647700" y="1876425"/>
            <a:ext cx="714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7A1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B7A1F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text-9">
            <a:extLst>
              <a:ext uri="{FF2B5EF4-FFF2-40B4-BE49-F238E27FC236}">
                <a16:creationId xmlns:a16="http://schemas.microsoft.com/office/drawing/2014/main" id="{29B8BB82-1B1D-4C40-8C0E-EB042864B605}"/>
              </a:ext>
            </a:extLst>
          </p:cNvPr>
          <p:cNvSpPr>
            <a:spLocks noGrp="1"/>
          </p:cNvSpPr>
          <p:nvPr/>
        </p:nvSpPr>
        <p:spPr>
          <a:xfrm>
            <a:off x="1476375" y="1857375"/>
            <a:ext cx="44577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Introduction</a:t>
            </a:r>
          </a:p>
        </p:txBody>
      </p:sp>
      <p:sp>
        <p:nvSpPr>
          <p:cNvPr id="5" name="text-10">
            <a:extLst>
              <a:ext uri="{FF2B5EF4-FFF2-40B4-BE49-F238E27FC236}">
                <a16:creationId xmlns:a16="http://schemas.microsoft.com/office/drawing/2014/main" id="{B81A90D4-FB3E-4CAF-8C99-45B713BEB334}"/>
              </a:ext>
            </a:extLst>
          </p:cNvPr>
          <p:cNvSpPr>
            <a:spLocks noGrp="1"/>
          </p:cNvSpPr>
          <p:nvPr/>
        </p:nvSpPr>
        <p:spPr>
          <a:xfrm>
            <a:off x="6610350" y="1876425"/>
            <a:ext cx="714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66D9E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D9E5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6" name="text-11">
            <a:extLst>
              <a:ext uri="{FF2B5EF4-FFF2-40B4-BE49-F238E27FC236}">
                <a16:creationId xmlns:a16="http://schemas.microsoft.com/office/drawing/2014/main" id="{27075080-C26E-48C2-9806-18B5650BCA41}"/>
              </a:ext>
            </a:extLst>
          </p:cNvPr>
          <p:cNvSpPr>
            <a:spLocks noGrp="1"/>
          </p:cNvSpPr>
          <p:nvPr/>
        </p:nvSpPr>
        <p:spPr>
          <a:xfrm>
            <a:off x="7439025" y="1857375"/>
            <a:ext cx="41624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Benchmark results</a:t>
            </a:r>
          </a:p>
        </p:txBody>
      </p:sp>
      <p:sp>
        <p:nvSpPr>
          <p:cNvPr id="7" name="text-12">
            <a:extLst>
              <a:ext uri="{FF2B5EF4-FFF2-40B4-BE49-F238E27FC236}">
                <a16:creationId xmlns:a16="http://schemas.microsoft.com/office/drawing/2014/main" id="{01A0B5FB-D693-4CC3-932E-1F878A1DB7A3}"/>
              </a:ext>
            </a:extLst>
          </p:cNvPr>
          <p:cNvSpPr>
            <a:spLocks noGrp="1"/>
          </p:cNvSpPr>
          <p:nvPr/>
        </p:nvSpPr>
        <p:spPr>
          <a:xfrm>
            <a:off x="647700" y="2857500"/>
            <a:ext cx="714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7A1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B7A1F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text-13">
            <a:extLst>
              <a:ext uri="{FF2B5EF4-FFF2-40B4-BE49-F238E27FC236}">
                <a16:creationId xmlns:a16="http://schemas.microsoft.com/office/drawing/2014/main" id="{B3FF78AB-AABE-4671-9CDD-8ADD44F6CAE2}"/>
              </a:ext>
            </a:extLst>
          </p:cNvPr>
          <p:cNvSpPr>
            <a:spLocks noGrp="1"/>
          </p:cNvSpPr>
          <p:nvPr/>
        </p:nvSpPr>
        <p:spPr>
          <a:xfrm>
            <a:off x="1476375" y="2838450"/>
            <a:ext cx="44577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Architecture &amp; pipeline</a:t>
            </a:r>
          </a:p>
        </p:txBody>
      </p:sp>
      <p:sp>
        <p:nvSpPr>
          <p:cNvPr id="9" name="text-14">
            <a:extLst>
              <a:ext uri="{FF2B5EF4-FFF2-40B4-BE49-F238E27FC236}">
                <a16:creationId xmlns:a16="http://schemas.microsoft.com/office/drawing/2014/main" id="{04A3491C-841A-4571-8F64-2CC833FF64A1}"/>
              </a:ext>
            </a:extLst>
          </p:cNvPr>
          <p:cNvSpPr>
            <a:spLocks noGrp="1"/>
          </p:cNvSpPr>
          <p:nvPr/>
        </p:nvSpPr>
        <p:spPr>
          <a:xfrm>
            <a:off x="6610350" y="2857500"/>
            <a:ext cx="714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66D9E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D9E5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10" name="text-15">
            <a:extLst>
              <a:ext uri="{FF2B5EF4-FFF2-40B4-BE49-F238E27FC236}">
                <a16:creationId xmlns:a16="http://schemas.microsoft.com/office/drawing/2014/main" id="{B1422E04-35B8-4FC1-A20A-6C298B9CBE4C}"/>
              </a:ext>
            </a:extLst>
          </p:cNvPr>
          <p:cNvSpPr>
            <a:spLocks noGrp="1"/>
          </p:cNvSpPr>
          <p:nvPr/>
        </p:nvSpPr>
        <p:spPr>
          <a:xfrm>
            <a:off x="7439025" y="2838450"/>
            <a:ext cx="41624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Observability &amp; SLOs</a:t>
            </a:r>
          </a:p>
        </p:txBody>
      </p:sp>
      <p:sp>
        <p:nvSpPr>
          <p:cNvPr id="11" name="text-16">
            <a:extLst>
              <a:ext uri="{FF2B5EF4-FFF2-40B4-BE49-F238E27FC236}">
                <a16:creationId xmlns:a16="http://schemas.microsoft.com/office/drawing/2014/main" id="{B4B239B1-2799-439B-A498-18F1EE2746F5}"/>
              </a:ext>
            </a:extLst>
          </p:cNvPr>
          <p:cNvSpPr>
            <a:spLocks noGrp="1"/>
          </p:cNvSpPr>
          <p:nvPr/>
        </p:nvSpPr>
        <p:spPr>
          <a:xfrm>
            <a:off x="647700" y="3838575"/>
            <a:ext cx="714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7A1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B7A1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2" name="text-17">
            <a:extLst>
              <a:ext uri="{FF2B5EF4-FFF2-40B4-BE49-F238E27FC236}">
                <a16:creationId xmlns:a16="http://schemas.microsoft.com/office/drawing/2014/main" id="{77715826-8D3C-41AC-B23A-7F5CBB2F6E29}"/>
              </a:ext>
            </a:extLst>
          </p:cNvPr>
          <p:cNvSpPr>
            <a:spLocks noGrp="1"/>
          </p:cNvSpPr>
          <p:nvPr/>
        </p:nvSpPr>
        <p:spPr>
          <a:xfrm>
            <a:off x="1476375" y="3819525"/>
            <a:ext cx="44577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Model deployment</a:t>
            </a:r>
          </a:p>
        </p:txBody>
      </p:sp>
      <p:sp>
        <p:nvSpPr>
          <p:cNvPr id="13" name="text-18">
            <a:extLst>
              <a:ext uri="{FF2B5EF4-FFF2-40B4-BE49-F238E27FC236}">
                <a16:creationId xmlns:a16="http://schemas.microsoft.com/office/drawing/2014/main" id="{2D73FFED-3D5D-4710-A94C-83D64077D81A}"/>
              </a:ext>
            </a:extLst>
          </p:cNvPr>
          <p:cNvSpPr>
            <a:spLocks noGrp="1"/>
          </p:cNvSpPr>
          <p:nvPr/>
        </p:nvSpPr>
        <p:spPr>
          <a:xfrm>
            <a:off x="6610350" y="3838575"/>
            <a:ext cx="714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66D9E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D9E5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14" name="text-19">
            <a:extLst>
              <a:ext uri="{FF2B5EF4-FFF2-40B4-BE49-F238E27FC236}">
                <a16:creationId xmlns:a16="http://schemas.microsoft.com/office/drawing/2014/main" id="{67D47248-BD6D-4E59-A8A6-2FC1BC0D7425}"/>
              </a:ext>
            </a:extLst>
          </p:cNvPr>
          <p:cNvSpPr>
            <a:spLocks noGrp="1"/>
          </p:cNvSpPr>
          <p:nvPr/>
        </p:nvSpPr>
        <p:spPr>
          <a:xfrm>
            <a:off x="7439025" y="3819525"/>
            <a:ext cx="41624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Live demo</a:t>
            </a:r>
          </a:p>
        </p:txBody>
      </p:sp>
      <p:sp>
        <p:nvSpPr>
          <p:cNvPr id="15" name="text-20">
            <a:extLst>
              <a:ext uri="{FF2B5EF4-FFF2-40B4-BE49-F238E27FC236}">
                <a16:creationId xmlns:a16="http://schemas.microsoft.com/office/drawing/2014/main" id="{A15E4B52-C977-44C4-BF5B-0790E71A025A}"/>
              </a:ext>
            </a:extLst>
          </p:cNvPr>
          <p:cNvSpPr>
            <a:spLocks noGrp="1"/>
          </p:cNvSpPr>
          <p:nvPr/>
        </p:nvSpPr>
        <p:spPr>
          <a:xfrm>
            <a:off x="647700" y="4819650"/>
            <a:ext cx="714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7A1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B7A1F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6" name="text-21">
            <a:extLst>
              <a:ext uri="{FF2B5EF4-FFF2-40B4-BE49-F238E27FC236}">
                <a16:creationId xmlns:a16="http://schemas.microsoft.com/office/drawing/2014/main" id="{6A9F32EF-BBC5-422A-87E5-561922BC3127}"/>
              </a:ext>
            </a:extLst>
          </p:cNvPr>
          <p:cNvSpPr>
            <a:spLocks noGrp="1"/>
          </p:cNvSpPr>
          <p:nvPr/>
        </p:nvSpPr>
        <p:spPr>
          <a:xfrm>
            <a:off x="1476375" y="4800600"/>
            <a:ext cx="44577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Evaluation</a:t>
            </a:r>
          </a:p>
        </p:txBody>
      </p:sp>
      <p:sp>
        <p:nvSpPr>
          <p:cNvPr id="17" name="text-22">
            <a:extLst>
              <a:ext uri="{FF2B5EF4-FFF2-40B4-BE49-F238E27FC236}">
                <a16:creationId xmlns:a16="http://schemas.microsoft.com/office/drawing/2014/main" id="{C4E0063E-7D78-40EA-8242-BFE9F2857DDA}"/>
              </a:ext>
            </a:extLst>
          </p:cNvPr>
          <p:cNvSpPr>
            <a:spLocks noGrp="1"/>
          </p:cNvSpPr>
          <p:nvPr/>
        </p:nvSpPr>
        <p:spPr>
          <a:xfrm>
            <a:off x="6610350" y="4819650"/>
            <a:ext cx="714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66D9E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D9E5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18" name="text-23">
            <a:extLst>
              <a:ext uri="{FF2B5EF4-FFF2-40B4-BE49-F238E27FC236}">
                <a16:creationId xmlns:a16="http://schemas.microsoft.com/office/drawing/2014/main" id="{F3444765-C294-4498-8C99-708E51A4D1DD}"/>
              </a:ext>
            </a:extLst>
          </p:cNvPr>
          <p:cNvSpPr>
            <a:spLocks noGrp="1"/>
          </p:cNvSpPr>
          <p:nvPr/>
        </p:nvSpPr>
        <p:spPr>
          <a:xfrm>
            <a:off x="7439025" y="4800600"/>
            <a:ext cx="41624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787179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-24">
            <a:extLst>
              <a:ext uri="{FF2B5EF4-FFF2-40B4-BE49-F238E27FC236}">
                <a16:creationId xmlns:a16="http://schemas.microsoft.com/office/drawing/2014/main" id="{473088C2-1BB6-468A-98B2-CB8DB20599C4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Business problem &amp; CTCM use case</a:t>
            </a:r>
          </a:p>
        </p:txBody>
      </p:sp>
      <p:sp>
        <p:nvSpPr>
          <p:cNvPr id="2" name="page-25">
            <a:extLst>
              <a:ext uri="{FF2B5EF4-FFF2-40B4-BE49-F238E27FC236}">
                <a16:creationId xmlns:a16="http://schemas.microsoft.com/office/drawing/2014/main" id="{E4DE20F4-CFC6-4108-9E8A-807B7AFC4FB0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text-26">
            <a:extLst>
              <a:ext uri="{FF2B5EF4-FFF2-40B4-BE49-F238E27FC236}">
                <a16:creationId xmlns:a16="http://schemas.microsoft.com/office/drawing/2014/main" id="{C1E3E9EA-B953-44A8-8246-0DF0BD705005}"/>
              </a:ext>
            </a:extLst>
          </p:cNvPr>
          <p:cNvSpPr>
            <a:spLocks noGrp="1"/>
          </p:cNvSpPr>
          <p:nvPr/>
        </p:nvSpPr>
        <p:spPr>
          <a:xfrm>
            <a:off x="628650" y="1704975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B7A1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B7A1FF"/>
                </a:solidFill>
                <a:latin typeface="DejaVu Sans"/>
                <a:ea typeface="DejaVu Sans"/>
                <a:cs typeface="DejaVu Sans"/>
              </a:rPr>
              <a:t>THE CHALLENGE</a:t>
            </a:r>
          </a:p>
        </p:txBody>
      </p:sp>
      <p:sp>
        <p:nvSpPr>
          <p:cNvPr id="4" name="text-27">
            <a:extLst>
              <a:ext uri="{FF2B5EF4-FFF2-40B4-BE49-F238E27FC236}">
                <a16:creationId xmlns:a16="http://schemas.microsoft.com/office/drawing/2014/main" id="{A52F9963-3BD4-4D06-9FDD-3F4CD1520014}"/>
              </a:ext>
            </a:extLst>
          </p:cNvPr>
          <p:cNvSpPr>
            <a:spLocks noGrp="1"/>
          </p:cNvSpPr>
          <p:nvPr/>
        </p:nvSpPr>
        <p:spPr>
          <a:xfrm>
            <a:off x="647700" y="2266950"/>
            <a:ext cx="4781550" cy="2343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200"/>
              </a:spcAft>
              <a:buChar char="•"/>
              <a:defRPr sz="2100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t>Learning content across multiple formats</a:t>
            </a:r>
          </a:p>
          <a:p>
            <a:pPr marL="228600" indent="-114300" algn="l">
              <a:spcAft>
                <a:spcPts val="1200"/>
              </a:spcAft>
              <a:buChar char="•"/>
              <a:defRPr sz="2100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t>Inconsistent topic and difficulty labels</a:t>
            </a:r>
          </a:p>
          <a:p>
            <a:pPr marL="228600" indent="-114300" algn="l">
              <a:spcAft>
                <a:spcPts val="1200"/>
              </a:spcAft>
              <a:buChar char="•"/>
              <a:defRPr sz="2100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t>Manual mapping to a skills taxonomy</a:t>
            </a:r>
          </a:p>
        </p:txBody>
      </p:sp>
      <p:sp>
        <p:nvSpPr>
          <p:cNvPr id="5" name="text-28">
            <a:extLst>
              <a:ext uri="{FF2B5EF4-FFF2-40B4-BE49-F238E27FC236}">
                <a16:creationId xmlns:a16="http://schemas.microsoft.com/office/drawing/2014/main" id="{FE31AAB8-9BF7-4220-A554-EA710A8085E4}"/>
              </a:ext>
            </a:extLst>
          </p:cNvPr>
          <p:cNvSpPr>
            <a:spLocks noGrp="1"/>
          </p:cNvSpPr>
          <p:nvPr/>
        </p:nvSpPr>
        <p:spPr>
          <a:xfrm>
            <a:off x="6457950" y="1704975"/>
            <a:ext cx="5048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66D9E5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66D9E5"/>
                </a:solidFill>
                <a:latin typeface="DejaVu Sans"/>
                <a:ea typeface="DejaVu Sans"/>
                <a:cs typeface="DejaVu Sans"/>
              </a:rPr>
              <a:t>THE SERVICE OUTPUT</a:t>
            </a:r>
          </a:p>
        </p:txBody>
      </p:sp>
      <p:sp>
        <p:nvSpPr>
          <p:cNvPr id="6" name="text-29">
            <a:extLst>
              <a:ext uri="{FF2B5EF4-FFF2-40B4-BE49-F238E27FC236}">
                <a16:creationId xmlns:a16="http://schemas.microsoft.com/office/drawing/2014/main" id="{ED23AEA6-525F-4465-A2CC-6E4AA3C5EBAA}"/>
              </a:ext>
            </a:extLst>
          </p:cNvPr>
          <p:cNvSpPr>
            <a:spLocks noGrp="1"/>
          </p:cNvSpPr>
          <p:nvPr/>
        </p:nvSpPr>
        <p:spPr>
          <a:xfrm>
            <a:off x="6467475" y="2247900"/>
            <a:ext cx="50101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8–12 topic tags</a:t>
            </a:r>
          </a:p>
        </p:txBody>
      </p:sp>
      <p:sp>
        <p:nvSpPr>
          <p:cNvPr id="7" name="text-30">
            <a:extLst>
              <a:ext uri="{FF2B5EF4-FFF2-40B4-BE49-F238E27FC236}">
                <a16:creationId xmlns:a16="http://schemas.microsoft.com/office/drawing/2014/main" id="{91140FDE-96AF-4F3F-A181-6E85E2DEAA40}"/>
              </a:ext>
            </a:extLst>
          </p:cNvPr>
          <p:cNvSpPr>
            <a:spLocks noGrp="1"/>
          </p:cNvSpPr>
          <p:nvPr/>
        </p:nvSpPr>
        <p:spPr>
          <a:xfrm>
            <a:off x="6467475" y="2857500"/>
            <a:ext cx="50101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Difficulty level</a:t>
            </a:r>
          </a:p>
        </p:txBody>
      </p:sp>
      <p:sp>
        <p:nvSpPr>
          <p:cNvPr id="8" name="text-31">
            <a:extLst>
              <a:ext uri="{FF2B5EF4-FFF2-40B4-BE49-F238E27FC236}">
                <a16:creationId xmlns:a16="http://schemas.microsoft.com/office/drawing/2014/main" id="{509E3F50-9B9E-47DA-9C2C-158C0252D2D3}"/>
              </a:ext>
            </a:extLst>
          </p:cNvPr>
          <p:cNvSpPr>
            <a:spLocks noGrp="1"/>
          </p:cNvSpPr>
          <p:nvPr/>
        </p:nvSpPr>
        <p:spPr>
          <a:xfrm>
            <a:off x="6467475" y="3448050"/>
            <a:ext cx="50101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4 competency mappings</a:t>
            </a:r>
          </a:p>
        </p:txBody>
      </p:sp>
      <p:sp>
        <p:nvSpPr>
          <p:cNvPr id="9" name="text-32">
            <a:extLst>
              <a:ext uri="{FF2B5EF4-FFF2-40B4-BE49-F238E27FC236}">
                <a16:creationId xmlns:a16="http://schemas.microsoft.com/office/drawing/2014/main" id="{7D67353B-9208-4AEB-AA8E-B2E138397688}"/>
              </a:ext>
            </a:extLst>
          </p:cNvPr>
          <p:cNvSpPr>
            <a:spLocks noGrp="1"/>
          </p:cNvSpPr>
          <p:nvPr/>
        </p:nvSpPr>
        <p:spPr>
          <a:xfrm>
            <a:off x="6467475" y="4114800"/>
            <a:ext cx="4953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Summary, confidence and 3 learning objectives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1DAE2CAA-04DB-42FA-854D-4C7CE089B5EA}"/>
              </a:ext>
            </a:extLst>
          </p:cNvPr>
          <p:cNvSpPr>
            <a:spLocks noGrp="1"/>
          </p:cNvSpPr>
          <p:nvPr/>
        </p:nvSpPr>
        <p:spPr>
          <a:xfrm>
            <a:off x="628650" y="5181600"/>
            <a:ext cx="10934700" cy="0"/>
          </a:xfrm>
          <a:prstGeom prst="line">
            <a:avLst/>
          </a:prstGeom>
          <a:noFill/>
          <a:ln w="9525">
            <a:solidFill>
              <a:srgbClr val="33435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-33">
            <a:extLst>
              <a:ext uri="{FF2B5EF4-FFF2-40B4-BE49-F238E27FC236}">
                <a16:creationId xmlns:a16="http://schemas.microsoft.com/office/drawing/2014/main" id="{FFDE6D46-5F9D-4598-9116-5A76843F5518}"/>
              </a:ext>
            </a:extLst>
          </p:cNvPr>
          <p:cNvSpPr>
            <a:spLocks noGrp="1"/>
          </p:cNvSpPr>
          <p:nvPr/>
        </p:nvSpPr>
        <p:spPr>
          <a:xfrm>
            <a:off x="628650" y="5486400"/>
            <a:ext cx="16954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66D9E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66D9E5"/>
                </a:solidFill>
                <a:latin typeface="DejaVu Sans"/>
                <a:ea typeface="DejaVu Sans"/>
                <a:cs typeface="DejaVu Sans"/>
              </a:rPr>
              <a:t>OBJECTIVE</a:t>
            </a:r>
          </a:p>
        </p:txBody>
      </p:sp>
      <p:sp>
        <p:nvSpPr>
          <p:cNvPr id="12" name="text-34">
            <a:extLst>
              <a:ext uri="{FF2B5EF4-FFF2-40B4-BE49-F238E27FC236}">
                <a16:creationId xmlns:a16="http://schemas.microsoft.com/office/drawing/2014/main" id="{0BCA8265-4C96-4440-9470-7484F4723E68}"/>
              </a:ext>
            </a:extLst>
          </p:cNvPr>
          <p:cNvSpPr>
            <a:spLocks noGrp="1"/>
          </p:cNvSpPr>
          <p:nvPr/>
        </p:nvSpPr>
        <p:spPr>
          <a:xfrm>
            <a:off x="2390775" y="5429250"/>
            <a:ext cx="907732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Compare local GPU inference with an external API</a:t>
            </a:r>
          </a:p>
          <a:p>
            <a:pPr algn="l">
              <a:defRPr sz="2100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using the same content and evaluation framework</a:t>
            </a:r>
          </a:p>
        </p:txBody>
      </p:sp>
    </p:spTree>
    <p:extLst>
      <p:ext uri="{BB962C8B-B14F-4D97-AF65-F5344CB8AC3E}">
        <p14:creationId xmlns:p14="http://schemas.microsoft.com/office/powerpoint/2010/main" val="1274446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Connector: Elbow 19"/>
          <p:cNvCxnSpPr>
            <a:stCxn id="6" idx="2"/>
            <a:endCxn id="13" idx="0"/>
          </p:cNvCxnSpPr>
          <p:nvPr/>
        </p:nvCxnSpPr>
        <p:spPr>
          <a:xfrm>
            <a:off x="7410450" y="3324225"/>
            <a:ext cx="3028950" cy="11525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66D9E5"/>
            </a:solidFill>
            <a:headEnd type="triangle" w="med" len="med"/>
            <a:tailEnd type="triangle" w="med" len="med"/>
          </a:ln>
        </p:spPr>
      </p:cxnSp>
      <p:cxnSp>
        <p:nvCxnSpPr>
          <p:cNvPr id="21" name="Straight Arrow Connector 20"/>
          <p:cNvCxnSpPr>
            <a:stCxn id="6" idx="2"/>
            <a:endCxn id="12" idx="0"/>
          </p:cNvCxnSpPr>
          <p:nvPr/>
        </p:nvCxnSpPr>
        <p:spPr>
          <a:xfrm>
            <a:off x="7410450" y="3324225"/>
            <a:ext cx="0" cy="1152525"/>
          </a:xfrm>
          <a:prstGeom prst="straightConnector1">
            <a:avLst/>
          </a:prstGeom>
          <a:ln w="19050">
            <a:solidFill>
              <a:srgbClr val="B7A1FF"/>
            </a:solidFill>
            <a:headEnd type="triangle" w="med" len="med"/>
            <a:tailEnd type="triangle" w="med" len="med"/>
          </a:ln>
        </p:spPr>
      </p:cxnSp>
      <p:cxnSp>
        <p:nvCxnSpPr>
          <p:cNvPr id="22" name="Connector: Elbow 21"/>
          <p:cNvCxnSpPr>
            <a:stCxn id="6" idx="2"/>
            <a:endCxn id="11" idx="0"/>
          </p:cNvCxnSpPr>
          <p:nvPr/>
        </p:nvCxnSpPr>
        <p:spPr>
          <a:xfrm flipH="1">
            <a:off x="4348163" y="3324225"/>
            <a:ext cx="3062288" cy="11525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8D9BB3"/>
            </a:solidFill>
            <a:headEnd type="triangle" w="med" len="med"/>
            <a:tailEnd type="triangle" w="med" len="med"/>
          </a:ln>
        </p:spPr>
      </p:cxnSp>
      <p:cxnSp>
        <p:nvCxnSpPr>
          <p:cNvPr id="23" name="Straight Arrow Connector 22"/>
          <p:cNvCxnSpPr>
            <a:stCxn id="6" idx="3"/>
            <a:endCxn id="7" idx="1"/>
          </p:cNvCxnSpPr>
          <p:nvPr/>
        </p:nvCxnSpPr>
        <p:spPr>
          <a:xfrm>
            <a:off x="8724900" y="2790825"/>
            <a:ext cx="552450" cy="0"/>
          </a:xfrm>
          <a:prstGeom prst="straightConnector1">
            <a:avLst/>
          </a:prstGeom>
          <a:ln w="19050">
            <a:solidFill>
              <a:srgbClr val="8D9BB3"/>
            </a:solidFill>
            <a:tailEnd type="triangle" w="med" len="med"/>
          </a:ln>
        </p:spPr>
      </p:cxnSp>
      <p:cxnSp>
        <p:nvCxnSpPr>
          <p:cNvPr id="24" name="Straight Arrow Connector 23"/>
          <p:cNvCxnSpPr>
            <a:stCxn id="5" idx="3"/>
            <a:endCxn id="6" idx="1"/>
          </p:cNvCxnSpPr>
          <p:nvPr/>
        </p:nvCxnSpPr>
        <p:spPr>
          <a:xfrm>
            <a:off x="5524500" y="2790825"/>
            <a:ext cx="571500" cy="0"/>
          </a:xfrm>
          <a:prstGeom prst="straightConnector1">
            <a:avLst/>
          </a:prstGeom>
          <a:ln w="19050">
            <a:solidFill>
              <a:srgbClr val="8D9BB3"/>
            </a:solidFill>
            <a:tailEnd type="triangle" w="med" len="med"/>
          </a:ln>
        </p:spPr>
      </p:cxnSp>
      <p:cxnSp>
        <p:nvCxnSpPr>
          <p:cNvPr id="25" name="Straight Arrow Connector 24"/>
          <p:cNvCxnSpPr>
            <a:stCxn id="4" idx="3"/>
            <a:endCxn id="5" idx="1"/>
          </p:cNvCxnSpPr>
          <p:nvPr/>
        </p:nvCxnSpPr>
        <p:spPr>
          <a:xfrm>
            <a:off x="2571750" y="2790825"/>
            <a:ext cx="571500" cy="0"/>
          </a:xfrm>
          <a:prstGeom prst="straightConnector1">
            <a:avLst/>
          </a:prstGeom>
          <a:ln w="19050">
            <a:solidFill>
              <a:srgbClr val="8D9BB3"/>
            </a:solidFill>
            <a:tailEnd type="triangle" w="med" len="med"/>
          </a:ln>
        </p:spPr>
      </p:cxnSp>
      <p:sp>
        <p:nvSpPr>
          <p:cNvPr id="26" name="title-35">
            <a:extLst>
              <a:ext uri="{FF2B5EF4-FFF2-40B4-BE49-F238E27FC236}">
                <a16:creationId xmlns:a16="http://schemas.microsoft.com/office/drawing/2014/main" id="{B0BC5D4D-9509-4D98-B95F-964DECA99AD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System architecture</a:t>
            </a:r>
          </a:p>
        </p:txBody>
      </p:sp>
      <p:sp>
        <p:nvSpPr>
          <p:cNvPr id="2" name="text-36">
            <a:extLst>
              <a:ext uri="{FF2B5EF4-FFF2-40B4-BE49-F238E27FC236}">
                <a16:creationId xmlns:a16="http://schemas.microsoft.com/office/drawing/2014/main" id="{4D553785-6C90-460F-B839-D57B59839DD7}"/>
              </a:ext>
            </a:extLst>
          </p:cNvPr>
          <p:cNvSpPr>
            <a:spLocks noGrp="1"/>
          </p:cNvSpPr>
          <p:nvPr/>
        </p:nvSpPr>
        <p:spPr>
          <a:xfrm>
            <a:off x="628650" y="1143000"/>
            <a:ext cx="109156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One FastAPI service with local and API-based inference</a:t>
            </a:r>
          </a:p>
        </p:txBody>
      </p:sp>
      <p:sp>
        <p:nvSpPr>
          <p:cNvPr id="3" name="page-37">
            <a:extLst>
              <a:ext uri="{FF2B5EF4-FFF2-40B4-BE49-F238E27FC236}">
                <a16:creationId xmlns:a16="http://schemas.microsoft.com/office/drawing/2014/main" id="{F93C6C57-7028-4486-82E5-FAC190FFBBF6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4" name="diagram-node-38">
            <a:extLst>
              <a:ext uri="{FF2B5EF4-FFF2-40B4-BE49-F238E27FC236}">
                <a16:creationId xmlns:a16="http://schemas.microsoft.com/office/drawing/2014/main" id="{13E907CE-4290-4636-B1FA-9511045ECAD2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1962150" cy="1066800"/>
          </a:xfrm>
          <a:prstGeom prst="rect">
            <a:avLst/>
          </a:prstGeom>
          <a:solidFill>
            <a:srgbClr val="131E33"/>
          </a:solidFill>
          <a:ln w="14288">
            <a:solidFill>
              <a:srgbClr val="33435E"/>
            </a:solidFill>
          </a:ln>
        </p:spPr>
        <p:txBody>
          <a:bodyPr lIns="95250" tIns="114300" rIns="95250" bIns="114300" anchor="ctr">
            <a:noAutofit/>
          </a:bodyPr>
          <a:lstStyle/>
          <a:p>
            <a:pPr algn="ctr">
              <a:defRPr sz="2025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Streamlit</a:t>
            </a:r>
          </a:p>
          <a:p>
            <a:pPr algn="ctr">
              <a:defRPr sz="2025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File upload</a:t>
            </a:r>
          </a:p>
        </p:txBody>
      </p:sp>
      <p:sp>
        <p:nvSpPr>
          <p:cNvPr id="5" name="diagram-node-39">
            <a:extLst>
              <a:ext uri="{FF2B5EF4-FFF2-40B4-BE49-F238E27FC236}">
                <a16:creationId xmlns:a16="http://schemas.microsoft.com/office/drawing/2014/main" id="{F0CD2F7C-E7D8-4D20-A351-3CBA15FF9D2A}"/>
              </a:ext>
            </a:extLst>
          </p:cNvPr>
          <p:cNvSpPr>
            <a:spLocks noGrp="1"/>
          </p:cNvSpPr>
          <p:nvPr/>
        </p:nvSpPr>
        <p:spPr>
          <a:xfrm>
            <a:off x="3143250" y="2257425"/>
            <a:ext cx="2381250" cy="1066800"/>
          </a:xfrm>
          <a:prstGeom prst="rect">
            <a:avLst/>
          </a:prstGeom>
          <a:solidFill>
            <a:srgbClr val="131E33"/>
          </a:solidFill>
          <a:ln w="14288">
            <a:solidFill>
              <a:srgbClr val="33435E"/>
            </a:solidFill>
          </a:ln>
        </p:spPr>
        <p:txBody>
          <a:bodyPr lIns="95250" tIns="114300" rIns="95250" bIns="114300" anchor="ctr">
            <a:noAutofit/>
          </a:bodyPr>
          <a:lstStyle/>
          <a:p>
            <a:pPr algn="ctr">
              <a:defRPr sz="180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00" dirty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Extraction</a:t>
            </a:r>
          </a:p>
          <a:p>
            <a:pPr algn="ctr">
              <a:defRPr sz="180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00" dirty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Text + images + OCR</a:t>
            </a:r>
          </a:p>
        </p:txBody>
      </p:sp>
      <p:sp>
        <p:nvSpPr>
          <p:cNvPr id="6" name="diagram-node-40">
            <a:extLst>
              <a:ext uri="{FF2B5EF4-FFF2-40B4-BE49-F238E27FC236}">
                <a16:creationId xmlns:a16="http://schemas.microsoft.com/office/drawing/2014/main" id="{F79984B1-E6C4-48F4-A449-8D4FDB5D625B}"/>
              </a:ext>
            </a:extLst>
          </p:cNvPr>
          <p:cNvSpPr>
            <a:spLocks noGrp="1"/>
          </p:cNvSpPr>
          <p:nvPr/>
        </p:nvSpPr>
        <p:spPr>
          <a:xfrm>
            <a:off x="6096000" y="2257425"/>
            <a:ext cx="2628900" cy="1066800"/>
          </a:xfrm>
          <a:prstGeom prst="rect">
            <a:avLst/>
          </a:prstGeom>
          <a:solidFill>
            <a:srgbClr val="131E33"/>
          </a:solidFill>
          <a:ln w="14288">
            <a:solidFill>
              <a:srgbClr val="33435E"/>
            </a:solidFill>
          </a:ln>
        </p:spPr>
        <p:txBody>
          <a:bodyPr lIns="95250" tIns="114300" rIns="95250" bIns="114300" anchor="ctr">
            <a:noAutofit/>
          </a:bodyPr>
          <a:lstStyle/>
          <a:p>
            <a:pPr algn="ctr">
              <a:defRPr sz="180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3-pass orchestration</a:t>
            </a:r>
          </a:p>
          <a:p>
            <a:pPr algn="ctr">
              <a:defRPr sz="180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Inference + RAG</a:t>
            </a:r>
          </a:p>
        </p:txBody>
      </p:sp>
      <p:sp>
        <p:nvSpPr>
          <p:cNvPr id="7" name="diagram-node-41">
            <a:extLst>
              <a:ext uri="{FF2B5EF4-FFF2-40B4-BE49-F238E27FC236}">
                <a16:creationId xmlns:a16="http://schemas.microsoft.com/office/drawing/2014/main" id="{A0A4F596-10FB-4C1B-9EDF-5020D56ACBB0}"/>
              </a:ext>
            </a:extLst>
          </p:cNvPr>
          <p:cNvSpPr>
            <a:spLocks noGrp="1"/>
          </p:cNvSpPr>
          <p:nvPr/>
        </p:nvSpPr>
        <p:spPr>
          <a:xfrm>
            <a:off x="9277350" y="2257425"/>
            <a:ext cx="2305050" cy="1066800"/>
          </a:xfrm>
          <a:prstGeom prst="rect">
            <a:avLst/>
          </a:prstGeom>
          <a:solidFill>
            <a:srgbClr val="131E33"/>
          </a:solidFill>
          <a:ln w="14288">
            <a:solidFill>
              <a:srgbClr val="33435E"/>
            </a:solidFill>
          </a:ln>
        </p:spPr>
        <p:txBody>
          <a:bodyPr lIns="95250" tIns="114300" rIns="95250" bIns="114300" anchor="ctr">
            <a:noAutofit/>
          </a:bodyPr>
          <a:lstStyle/>
          <a:p>
            <a:pPr algn="ctr">
              <a:defRPr sz="2025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Structured</a:t>
            </a:r>
          </a:p>
          <a:p>
            <a:pPr algn="ctr">
              <a:defRPr sz="2025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TagResult</a:t>
            </a:r>
          </a:p>
        </p:txBody>
      </p:sp>
      <p:sp>
        <p:nvSpPr>
          <p:cNvPr id="11" name="diagram-node-42">
            <a:extLst>
              <a:ext uri="{FF2B5EF4-FFF2-40B4-BE49-F238E27FC236}">
                <a16:creationId xmlns:a16="http://schemas.microsoft.com/office/drawing/2014/main" id="{8EA5B557-2E1B-4D72-878B-093F8CDF69E8}"/>
              </a:ext>
            </a:extLst>
          </p:cNvPr>
          <p:cNvSpPr>
            <a:spLocks noGrp="1"/>
          </p:cNvSpPr>
          <p:nvPr/>
        </p:nvSpPr>
        <p:spPr>
          <a:xfrm>
            <a:off x="3152775" y="4476750"/>
            <a:ext cx="2390775" cy="981075"/>
          </a:xfrm>
          <a:prstGeom prst="rect">
            <a:avLst/>
          </a:prstGeom>
          <a:solidFill>
            <a:srgbClr val="131E33"/>
          </a:solidFill>
          <a:ln w="14288">
            <a:solidFill>
              <a:srgbClr val="33435E"/>
            </a:solidFill>
          </a:ln>
        </p:spPr>
        <p:txBody>
          <a:bodyPr lIns="95250" tIns="114300" rIns="95250" bIns="114300" anchor="ctr">
            <a:noAutofit/>
          </a:bodyPr>
          <a:lstStyle/>
          <a:p>
            <a:pPr algn="ctr">
              <a:defRPr sz="1875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Shared retrieval</a:t>
            </a:r>
          </a:p>
          <a:p>
            <a:pPr algn="ctr">
              <a:defRPr sz="1875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bge-m3 on CPU</a:t>
            </a:r>
          </a:p>
        </p:txBody>
      </p:sp>
      <p:sp>
        <p:nvSpPr>
          <p:cNvPr id="12" name="diagram-node-43">
            <a:extLst>
              <a:ext uri="{FF2B5EF4-FFF2-40B4-BE49-F238E27FC236}">
                <a16:creationId xmlns:a16="http://schemas.microsoft.com/office/drawing/2014/main" id="{B74BB648-B00D-47F9-9CC1-54EDF848D0D0}"/>
              </a:ext>
            </a:extLst>
          </p:cNvPr>
          <p:cNvSpPr>
            <a:spLocks noGrp="1"/>
          </p:cNvSpPr>
          <p:nvPr/>
        </p:nvSpPr>
        <p:spPr>
          <a:xfrm>
            <a:off x="6134100" y="4476750"/>
            <a:ext cx="2552700" cy="981075"/>
          </a:xfrm>
          <a:prstGeom prst="rect">
            <a:avLst/>
          </a:prstGeom>
          <a:solidFill>
            <a:srgbClr val="131E33"/>
          </a:solidFill>
          <a:ln w="14288">
            <a:solidFill>
              <a:srgbClr val="B7A1FF"/>
            </a:solidFill>
          </a:ln>
        </p:spPr>
        <p:txBody>
          <a:bodyPr lIns="95250" tIns="114300" rIns="95250" bIns="114300" anchor="ctr">
            <a:noAutofit/>
          </a:bodyPr>
          <a:lstStyle/>
          <a:p>
            <a:pPr algn="ctr">
              <a:defRPr sz="1875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Qwen + vLLM</a:t>
            </a:r>
          </a:p>
          <a:p>
            <a:pPr algn="ctr">
              <a:defRPr sz="1875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Local RTX A6000</a:t>
            </a:r>
          </a:p>
        </p:txBody>
      </p:sp>
      <p:sp>
        <p:nvSpPr>
          <p:cNvPr id="13" name="diagram-node-44">
            <a:extLst>
              <a:ext uri="{FF2B5EF4-FFF2-40B4-BE49-F238E27FC236}">
                <a16:creationId xmlns:a16="http://schemas.microsoft.com/office/drawing/2014/main" id="{707CF577-12A5-4EAD-8EA1-AE111FB22E03}"/>
              </a:ext>
            </a:extLst>
          </p:cNvPr>
          <p:cNvSpPr>
            <a:spLocks noGrp="1"/>
          </p:cNvSpPr>
          <p:nvPr/>
        </p:nvSpPr>
        <p:spPr>
          <a:xfrm>
            <a:off x="9286875" y="4476750"/>
            <a:ext cx="2305050" cy="981075"/>
          </a:xfrm>
          <a:prstGeom prst="rect">
            <a:avLst/>
          </a:prstGeom>
          <a:solidFill>
            <a:srgbClr val="131E33"/>
          </a:solidFill>
          <a:ln w="14288">
            <a:solidFill>
              <a:srgbClr val="66D9E5"/>
            </a:solidFill>
          </a:ln>
        </p:spPr>
        <p:txBody>
          <a:bodyPr lIns="95250" tIns="114300" rIns="95250" bIns="114300" anchor="ctr">
            <a:noAutofit/>
          </a:bodyPr>
          <a:lstStyle/>
          <a:p>
            <a:pPr algn="ctr">
              <a:defRPr sz="180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GPT-4o-mini</a:t>
            </a:r>
          </a:p>
          <a:p>
            <a:pPr algn="ctr">
              <a:defRPr sz="180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External OpenAI API</a:t>
            </a:r>
          </a:p>
        </p:txBody>
      </p:sp>
      <p:sp>
        <p:nvSpPr>
          <p:cNvPr id="17" name="text-45">
            <a:extLst>
              <a:ext uri="{FF2B5EF4-FFF2-40B4-BE49-F238E27FC236}">
                <a16:creationId xmlns:a16="http://schemas.microsoft.com/office/drawing/2014/main" id="{8E765E84-18B3-40DB-85D2-045EA4225F8D}"/>
              </a:ext>
            </a:extLst>
          </p:cNvPr>
          <p:cNvSpPr>
            <a:spLocks noGrp="1"/>
          </p:cNvSpPr>
          <p:nvPr/>
        </p:nvSpPr>
        <p:spPr>
          <a:xfrm>
            <a:off x="3181350" y="1857375"/>
            <a:ext cx="5505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FASTAPI</a:t>
            </a:r>
          </a:p>
        </p:txBody>
      </p:sp>
      <p:sp>
        <p:nvSpPr>
          <p:cNvPr id="18" name="text-46">
            <a:extLst>
              <a:ext uri="{FF2B5EF4-FFF2-40B4-BE49-F238E27FC236}">
                <a16:creationId xmlns:a16="http://schemas.microsoft.com/office/drawing/2014/main" id="{CA780494-022F-4512-94C2-58D33F3A3D0F}"/>
              </a:ext>
            </a:extLst>
          </p:cNvPr>
          <p:cNvSpPr>
            <a:spLocks noGrp="1"/>
          </p:cNvSpPr>
          <p:nvPr/>
        </p:nvSpPr>
        <p:spPr>
          <a:xfrm>
            <a:off x="647700" y="5915025"/>
            <a:ext cx="50768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6D9E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6D9E5"/>
                </a:solidFill>
                <a:latin typeface="DejaVu Sans"/>
                <a:ea typeface="DejaVu Sans"/>
                <a:cs typeface="DejaVu Sans"/>
              </a:rPr>
              <a:t>POST /v1/tag/upload</a:t>
            </a:r>
          </a:p>
        </p:txBody>
      </p:sp>
      <p:sp>
        <p:nvSpPr>
          <p:cNvPr id="19" name="text-47">
            <a:extLst>
              <a:ext uri="{FF2B5EF4-FFF2-40B4-BE49-F238E27FC236}">
                <a16:creationId xmlns:a16="http://schemas.microsoft.com/office/drawing/2014/main" id="{D76266DC-9092-4C31-A382-7E33A0523280}"/>
              </a:ext>
            </a:extLst>
          </p:cNvPr>
          <p:cNvSpPr>
            <a:spLocks noGrp="1"/>
          </p:cNvSpPr>
          <p:nvPr/>
        </p:nvSpPr>
        <p:spPr>
          <a:xfrm>
            <a:off x="6467475" y="5915025"/>
            <a:ext cx="51054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Summary, tags, difficulty and skills</a:t>
            </a:r>
          </a:p>
        </p:txBody>
      </p:sp>
    </p:spTree>
    <p:extLst>
      <p:ext uri="{BB962C8B-B14F-4D97-AF65-F5344CB8AC3E}">
        <p14:creationId xmlns:p14="http://schemas.microsoft.com/office/powerpoint/2010/main" val="1054331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ge-50">
            <a:extLst>
              <a:ext uri="{FF2B5EF4-FFF2-40B4-BE49-F238E27FC236}">
                <a16:creationId xmlns:a16="http://schemas.microsoft.com/office/drawing/2014/main" id="{5EF1EA50-D57C-4BDE-9A86-514784FB325E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CD3ADA4-94EE-6F8F-F9B8-D6440766DE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45" y="171450"/>
            <a:ext cx="11958909" cy="590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822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FB916-741B-D6A0-0384-2228C6F73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EEE758B-9A2E-D200-E01D-0A63685CB2E2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7600950" y="5391150"/>
            <a:ext cx="942975" cy="0"/>
          </a:xfrm>
          <a:prstGeom prst="straightConnector1">
            <a:avLst/>
          </a:prstGeom>
          <a:ln w="19050">
            <a:solidFill>
              <a:srgbClr val="8D9BB3"/>
            </a:solidFill>
            <a:tailEnd type="triangle" w="med" len="med"/>
          </a:ln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EABAB7E-39A7-4DEA-AEDB-E1CEE7649B0A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3648075" y="5391150"/>
            <a:ext cx="923925" cy="0"/>
          </a:xfrm>
          <a:prstGeom prst="straightConnector1">
            <a:avLst/>
          </a:prstGeom>
          <a:ln w="19050">
            <a:solidFill>
              <a:srgbClr val="8D9BB3"/>
            </a:solidFill>
            <a:tailEnd type="triangle" w="med" len="med"/>
          </a:ln>
        </p:spPr>
      </p:cxnSp>
      <p:sp>
        <p:nvSpPr>
          <p:cNvPr id="22" name="title-48">
            <a:extLst>
              <a:ext uri="{FF2B5EF4-FFF2-40B4-BE49-F238E27FC236}">
                <a16:creationId xmlns:a16="http://schemas.microsoft.com/office/drawing/2014/main" id="{B6E4A1FE-2EB6-9A3F-594C-38836B79641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Three-pass inference pipeline</a:t>
            </a:r>
          </a:p>
        </p:txBody>
      </p:sp>
      <p:sp>
        <p:nvSpPr>
          <p:cNvPr id="2" name="text-49">
            <a:extLst>
              <a:ext uri="{FF2B5EF4-FFF2-40B4-BE49-F238E27FC236}">
                <a16:creationId xmlns:a16="http://schemas.microsoft.com/office/drawing/2014/main" id="{4C8E819E-807E-DAE0-F787-4DD65C855F0C}"/>
              </a:ext>
            </a:extLst>
          </p:cNvPr>
          <p:cNvSpPr>
            <a:spLocks noGrp="1"/>
          </p:cNvSpPr>
          <p:nvPr/>
        </p:nvSpPr>
        <p:spPr>
          <a:xfrm>
            <a:off x="628650" y="1143000"/>
            <a:ext cx="109156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The same pipeline and output requirements for both models</a:t>
            </a:r>
          </a:p>
        </p:txBody>
      </p:sp>
      <p:sp>
        <p:nvSpPr>
          <p:cNvPr id="3" name="page-50">
            <a:extLst>
              <a:ext uri="{FF2B5EF4-FFF2-40B4-BE49-F238E27FC236}">
                <a16:creationId xmlns:a16="http://schemas.microsoft.com/office/drawing/2014/main" id="{178B66B4-165A-96F5-64B7-83538FE3CD6F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lang="ar-SA" sz="1200" b="0" dirty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06</a:t>
            </a:r>
            <a:endParaRPr sz="1200" b="0" dirty="0">
              <a:solidFill>
                <a:srgbClr val="8D9BB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text-51">
            <a:extLst>
              <a:ext uri="{FF2B5EF4-FFF2-40B4-BE49-F238E27FC236}">
                <a16:creationId xmlns:a16="http://schemas.microsoft.com/office/drawing/2014/main" id="{8DEF7528-AF2C-66B3-9E56-A41F2B47BADC}"/>
              </a:ext>
            </a:extLst>
          </p:cNvPr>
          <p:cNvSpPr>
            <a:spLocks noGrp="1"/>
          </p:cNvSpPr>
          <p:nvPr/>
        </p:nvSpPr>
        <p:spPr>
          <a:xfrm>
            <a:off x="619125" y="1809750"/>
            <a:ext cx="30765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B7A1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B7A1FF"/>
                </a:solidFill>
                <a:latin typeface="DejaVu Sans"/>
                <a:ea typeface="DejaVu Sans"/>
                <a:cs typeface="DejaVu Sans"/>
              </a:rPr>
              <a:t>PASS 1</a:t>
            </a:r>
          </a:p>
        </p:txBody>
      </p:sp>
      <p:sp>
        <p:nvSpPr>
          <p:cNvPr id="5" name="text-52">
            <a:extLst>
              <a:ext uri="{FF2B5EF4-FFF2-40B4-BE49-F238E27FC236}">
                <a16:creationId xmlns:a16="http://schemas.microsoft.com/office/drawing/2014/main" id="{C822BEB3-D162-EFAF-A774-BE66CBC96C9A}"/>
              </a:ext>
            </a:extLst>
          </p:cNvPr>
          <p:cNvSpPr>
            <a:spLocks noGrp="1"/>
          </p:cNvSpPr>
          <p:nvPr/>
        </p:nvSpPr>
        <p:spPr>
          <a:xfrm>
            <a:off x="619125" y="2295525"/>
            <a:ext cx="30861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Content analysis</a:t>
            </a:r>
          </a:p>
        </p:txBody>
      </p:sp>
      <p:sp>
        <p:nvSpPr>
          <p:cNvPr id="6" name="text-53">
            <a:extLst>
              <a:ext uri="{FF2B5EF4-FFF2-40B4-BE49-F238E27FC236}">
                <a16:creationId xmlns:a16="http://schemas.microsoft.com/office/drawing/2014/main" id="{5707058B-9D96-2117-94E9-D6AE9877F534}"/>
              </a:ext>
            </a:extLst>
          </p:cNvPr>
          <p:cNvSpPr>
            <a:spLocks noGrp="1"/>
          </p:cNvSpPr>
          <p:nvPr/>
        </p:nvSpPr>
        <p:spPr>
          <a:xfrm>
            <a:off x="619125" y="3162300"/>
            <a:ext cx="30861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Summary, topic tags</a:t>
            </a:r>
          </a:p>
          <a:p>
            <a:pPr algn="l">
              <a:defRPr sz="187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and initial skills</a:t>
            </a:r>
          </a:p>
        </p:txBody>
      </p:sp>
      <p:sp>
        <p:nvSpPr>
          <p:cNvPr id="7" name="text-54">
            <a:extLst>
              <a:ext uri="{FF2B5EF4-FFF2-40B4-BE49-F238E27FC236}">
                <a16:creationId xmlns:a16="http://schemas.microsoft.com/office/drawing/2014/main" id="{E8C72D52-28A8-316F-FCC0-6205548A0E0A}"/>
              </a:ext>
            </a:extLst>
          </p:cNvPr>
          <p:cNvSpPr>
            <a:spLocks noGrp="1"/>
          </p:cNvSpPr>
          <p:nvPr/>
        </p:nvSpPr>
        <p:spPr>
          <a:xfrm>
            <a:off x="4552950" y="1809750"/>
            <a:ext cx="30765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66D9E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66D9E5"/>
                </a:solidFill>
                <a:latin typeface="DejaVu Sans"/>
                <a:ea typeface="DejaVu Sans"/>
                <a:cs typeface="DejaVu Sans"/>
              </a:rPr>
              <a:t>PASS 2</a:t>
            </a:r>
          </a:p>
        </p:txBody>
      </p:sp>
      <p:sp>
        <p:nvSpPr>
          <p:cNvPr id="8" name="text-55">
            <a:extLst>
              <a:ext uri="{FF2B5EF4-FFF2-40B4-BE49-F238E27FC236}">
                <a16:creationId xmlns:a16="http://schemas.microsoft.com/office/drawing/2014/main" id="{A07D060E-A912-849A-F532-09D2BD62DC85}"/>
              </a:ext>
            </a:extLst>
          </p:cNvPr>
          <p:cNvSpPr>
            <a:spLocks noGrp="1"/>
          </p:cNvSpPr>
          <p:nvPr/>
        </p:nvSpPr>
        <p:spPr>
          <a:xfrm>
            <a:off x="4552950" y="2295525"/>
            <a:ext cx="30861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Skill refinement</a:t>
            </a:r>
          </a:p>
        </p:txBody>
      </p:sp>
      <p:sp>
        <p:nvSpPr>
          <p:cNvPr id="9" name="text-56">
            <a:extLst>
              <a:ext uri="{FF2B5EF4-FFF2-40B4-BE49-F238E27FC236}">
                <a16:creationId xmlns:a16="http://schemas.microsoft.com/office/drawing/2014/main" id="{E6CC762B-5D7A-E2F3-051F-2702558BF628}"/>
              </a:ext>
            </a:extLst>
          </p:cNvPr>
          <p:cNvSpPr>
            <a:spLocks noGrp="1"/>
          </p:cNvSpPr>
          <p:nvPr/>
        </p:nvSpPr>
        <p:spPr>
          <a:xfrm>
            <a:off x="4552950" y="3162300"/>
            <a:ext cx="30861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Retrieve candidates</a:t>
            </a:r>
          </a:p>
          <a:p>
            <a:pPr algn="l">
              <a:defRPr sz="187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then select final skills</a:t>
            </a:r>
          </a:p>
        </p:txBody>
      </p:sp>
      <p:sp>
        <p:nvSpPr>
          <p:cNvPr id="10" name="text-57">
            <a:extLst>
              <a:ext uri="{FF2B5EF4-FFF2-40B4-BE49-F238E27FC236}">
                <a16:creationId xmlns:a16="http://schemas.microsoft.com/office/drawing/2014/main" id="{D1645D35-77F2-4F53-DC6A-934D0B283063}"/>
              </a:ext>
            </a:extLst>
          </p:cNvPr>
          <p:cNvSpPr>
            <a:spLocks noGrp="1"/>
          </p:cNvSpPr>
          <p:nvPr/>
        </p:nvSpPr>
        <p:spPr>
          <a:xfrm>
            <a:off x="8486775" y="1809750"/>
            <a:ext cx="30765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B7A1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B7A1FF"/>
                </a:solidFill>
                <a:latin typeface="DejaVu Sans"/>
                <a:ea typeface="DejaVu Sans"/>
                <a:cs typeface="DejaVu Sans"/>
              </a:rPr>
              <a:t>PASS 3</a:t>
            </a:r>
          </a:p>
        </p:txBody>
      </p:sp>
      <p:sp>
        <p:nvSpPr>
          <p:cNvPr id="11" name="text-58">
            <a:extLst>
              <a:ext uri="{FF2B5EF4-FFF2-40B4-BE49-F238E27FC236}">
                <a16:creationId xmlns:a16="http://schemas.microsoft.com/office/drawing/2014/main" id="{36C3105D-92E3-CB4B-BAAE-575D7DF2F6F0}"/>
              </a:ext>
            </a:extLst>
          </p:cNvPr>
          <p:cNvSpPr>
            <a:spLocks noGrp="1"/>
          </p:cNvSpPr>
          <p:nvPr/>
        </p:nvSpPr>
        <p:spPr>
          <a:xfrm>
            <a:off x="8486775" y="2295525"/>
            <a:ext cx="30861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Difficulty refinement</a:t>
            </a:r>
          </a:p>
        </p:txBody>
      </p:sp>
      <p:sp>
        <p:nvSpPr>
          <p:cNvPr id="12" name="text-59">
            <a:extLst>
              <a:ext uri="{FF2B5EF4-FFF2-40B4-BE49-F238E27FC236}">
                <a16:creationId xmlns:a16="http://schemas.microsoft.com/office/drawing/2014/main" id="{C7D826AE-39EF-0425-9A6E-FDB13C61FCC2}"/>
              </a:ext>
            </a:extLst>
          </p:cNvPr>
          <p:cNvSpPr>
            <a:spLocks noGrp="1"/>
          </p:cNvSpPr>
          <p:nvPr/>
        </p:nvSpPr>
        <p:spPr>
          <a:xfrm>
            <a:off x="8486775" y="3162300"/>
            <a:ext cx="30861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Beginner, Intermediate</a:t>
            </a:r>
          </a:p>
          <a:p>
            <a:pPr algn="l">
              <a:defRPr sz="187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or Advanced</a:t>
            </a:r>
          </a:p>
        </p:txBody>
      </p:sp>
      <p:sp>
        <p:nvSpPr>
          <p:cNvPr id="13" name="text-60">
            <a:extLst>
              <a:ext uri="{FF2B5EF4-FFF2-40B4-BE49-F238E27FC236}">
                <a16:creationId xmlns:a16="http://schemas.microsoft.com/office/drawing/2014/main" id="{1AC3C313-E5AD-2F18-81B1-F95C56EAC441}"/>
              </a:ext>
            </a:extLst>
          </p:cNvPr>
          <p:cNvSpPr>
            <a:spLocks noGrp="1"/>
          </p:cNvSpPr>
          <p:nvPr/>
        </p:nvSpPr>
        <p:spPr>
          <a:xfrm>
            <a:off x="619125" y="4552950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66D9E5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66D9E5"/>
                </a:solidFill>
                <a:latin typeface="DejaVu Sans"/>
                <a:ea typeface="DejaVu Sans"/>
                <a:cs typeface="DejaVu Sans"/>
              </a:rPr>
              <a:t>RAG SKILL REFINEMENT</a:t>
            </a:r>
          </a:p>
        </p:txBody>
      </p:sp>
      <p:sp>
        <p:nvSpPr>
          <p:cNvPr id="14" name="diagram-node-61">
            <a:extLst>
              <a:ext uri="{FF2B5EF4-FFF2-40B4-BE49-F238E27FC236}">
                <a16:creationId xmlns:a16="http://schemas.microsoft.com/office/drawing/2014/main" id="{541E2DC7-5B7A-8B25-35EE-2C45A5AEACB9}"/>
              </a:ext>
            </a:extLst>
          </p:cNvPr>
          <p:cNvSpPr>
            <a:spLocks noGrp="1"/>
          </p:cNvSpPr>
          <p:nvPr/>
        </p:nvSpPr>
        <p:spPr>
          <a:xfrm>
            <a:off x="619125" y="5048250"/>
            <a:ext cx="3028950" cy="685800"/>
          </a:xfrm>
          <a:prstGeom prst="rect">
            <a:avLst/>
          </a:prstGeom>
          <a:solidFill>
            <a:srgbClr val="131E33"/>
          </a:solidFill>
          <a:ln w="14288">
            <a:solidFill>
              <a:srgbClr val="33435E"/>
            </a:solidFill>
          </a:ln>
        </p:spPr>
        <p:txBody>
          <a:bodyPr lIns="95250" tIns="114300" rIns="95250" bIns="114300" anchor="ctr">
            <a:noAutofit/>
          </a:bodyPr>
          <a:lstStyle/>
          <a:p>
            <a:pPr algn="ctr">
              <a:defRPr sz="195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136 taxonomy skills</a:t>
            </a:r>
          </a:p>
        </p:txBody>
      </p:sp>
      <p:sp>
        <p:nvSpPr>
          <p:cNvPr id="15" name="diagram-node-62">
            <a:extLst>
              <a:ext uri="{FF2B5EF4-FFF2-40B4-BE49-F238E27FC236}">
                <a16:creationId xmlns:a16="http://schemas.microsoft.com/office/drawing/2014/main" id="{F0817C0A-04BD-CFF6-699D-F53B19041109}"/>
              </a:ext>
            </a:extLst>
          </p:cNvPr>
          <p:cNvSpPr>
            <a:spLocks noGrp="1"/>
          </p:cNvSpPr>
          <p:nvPr/>
        </p:nvSpPr>
        <p:spPr>
          <a:xfrm>
            <a:off x="4572000" y="5048250"/>
            <a:ext cx="3028950" cy="685800"/>
          </a:xfrm>
          <a:prstGeom prst="rect">
            <a:avLst/>
          </a:prstGeom>
          <a:solidFill>
            <a:srgbClr val="131E33"/>
          </a:solidFill>
          <a:ln w="14288">
            <a:solidFill>
              <a:srgbClr val="66D9E5"/>
            </a:solidFill>
          </a:ln>
        </p:spPr>
        <p:txBody>
          <a:bodyPr lIns="95250" tIns="114300" rIns="95250" bIns="114300" anchor="ctr">
            <a:noAutofit/>
          </a:bodyPr>
          <a:lstStyle/>
          <a:p>
            <a:pPr algn="ctr">
              <a:defRPr sz="195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Top 15 candidates</a:t>
            </a:r>
          </a:p>
        </p:txBody>
      </p:sp>
      <p:sp>
        <p:nvSpPr>
          <p:cNvPr id="16" name="diagram-node-63">
            <a:extLst>
              <a:ext uri="{FF2B5EF4-FFF2-40B4-BE49-F238E27FC236}">
                <a16:creationId xmlns:a16="http://schemas.microsoft.com/office/drawing/2014/main" id="{9FA29ED5-4A8C-BA8F-5578-9291BD78C775}"/>
              </a:ext>
            </a:extLst>
          </p:cNvPr>
          <p:cNvSpPr>
            <a:spLocks noGrp="1"/>
          </p:cNvSpPr>
          <p:nvPr/>
        </p:nvSpPr>
        <p:spPr>
          <a:xfrm>
            <a:off x="8543925" y="5048250"/>
            <a:ext cx="3028950" cy="685800"/>
          </a:xfrm>
          <a:prstGeom prst="rect">
            <a:avLst/>
          </a:prstGeom>
          <a:solidFill>
            <a:srgbClr val="131E33"/>
          </a:solidFill>
          <a:ln w="14288">
            <a:solidFill>
              <a:srgbClr val="33435E"/>
            </a:solidFill>
          </a:ln>
        </p:spPr>
        <p:txBody>
          <a:bodyPr lIns="95250" tIns="114300" rIns="95250" bIns="114300" anchor="ctr">
            <a:noAutofit/>
          </a:bodyPr>
          <a:lstStyle/>
          <a:p>
            <a:pPr algn="ctr">
              <a:defRPr sz="195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4 selected skills</a:t>
            </a:r>
          </a:p>
        </p:txBody>
      </p:sp>
      <p:sp>
        <p:nvSpPr>
          <p:cNvPr id="19" name="text-64">
            <a:extLst>
              <a:ext uri="{FF2B5EF4-FFF2-40B4-BE49-F238E27FC236}">
                <a16:creationId xmlns:a16="http://schemas.microsoft.com/office/drawing/2014/main" id="{CD2C6687-1003-FED8-832F-69102AFA7368}"/>
              </a:ext>
            </a:extLst>
          </p:cNvPr>
          <p:cNvSpPr>
            <a:spLocks noGrp="1"/>
          </p:cNvSpPr>
          <p:nvPr/>
        </p:nvSpPr>
        <p:spPr>
          <a:xfrm>
            <a:off x="638175" y="5991225"/>
            <a:ext cx="10858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Pass 2 runs when Pass 1 produces tags</a:t>
            </a:r>
          </a:p>
        </p:txBody>
      </p:sp>
    </p:spTree>
    <p:extLst>
      <p:ext uri="{BB962C8B-B14F-4D97-AF65-F5344CB8AC3E}">
        <p14:creationId xmlns:p14="http://schemas.microsoft.com/office/powerpoint/2010/main" val="1832080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-65">
            <a:extLst>
              <a:ext uri="{FF2B5EF4-FFF2-40B4-BE49-F238E27FC236}">
                <a16:creationId xmlns:a16="http://schemas.microsoft.com/office/drawing/2014/main" id="{5A1CF3AA-8EB8-424D-8D66-1B5318B2A4B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Model deploymen</a:t>
            </a:r>
            <a:r>
              <a:rPr lang="en-US" sz="3300" b="1" dirty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t: Image building</a:t>
            </a:r>
            <a:endParaRPr sz="3300" b="1" dirty="0">
              <a:solidFill>
                <a:srgbClr val="F5F7FD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page-66">
            <a:extLst>
              <a:ext uri="{FF2B5EF4-FFF2-40B4-BE49-F238E27FC236}">
                <a16:creationId xmlns:a16="http://schemas.microsoft.com/office/drawing/2014/main" id="{E4F38177-81AE-476B-B27F-95BED6DA9E27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lang="ar-SA" sz="1200" b="0" dirty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07</a:t>
            </a:r>
            <a:endParaRPr sz="1200" b="0" dirty="0">
              <a:solidFill>
                <a:srgbClr val="8D9BB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text-70">
            <a:extLst>
              <a:ext uri="{FF2B5EF4-FFF2-40B4-BE49-F238E27FC236}">
                <a16:creationId xmlns:a16="http://schemas.microsoft.com/office/drawing/2014/main" id="{58D0D536-C1D3-4C33-90D6-3362D042099B}"/>
              </a:ext>
            </a:extLst>
          </p:cNvPr>
          <p:cNvSpPr>
            <a:spLocks noGrp="1"/>
          </p:cNvSpPr>
          <p:nvPr/>
        </p:nvSpPr>
        <p:spPr>
          <a:xfrm>
            <a:off x="647700" y="6324600"/>
            <a:ext cx="10096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*Resource requests / limits. Recorded pod snapshot.</a:t>
            </a:r>
          </a:p>
        </p:txBody>
      </p:sp>
      <p:pic>
        <p:nvPicPr>
          <p:cNvPr id="9" name="صورة 8">
            <a:extLst>
              <a:ext uri="{FF2B5EF4-FFF2-40B4-BE49-F238E27FC236}">
                <a16:creationId xmlns:a16="http://schemas.microsoft.com/office/drawing/2014/main" id="{7E9CF1A4-2371-1F14-4B84-48D545EB1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64" y="1610187"/>
            <a:ext cx="6275036" cy="4171026"/>
          </a:xfrm>
          <a:prstGeom prst="rect">
            <a:avLst/>
          </a:prstGeom>
        </p:spPr>
      </p:pic>
      <p:pic>
        <p:nvPicPr>
          <p:cNvPr id="14" name="صورة 13">
            <a:extLst>
              <a:ext uri="{FF2B5EF4-FFF2-40B4-BE49-F238E27FC236}">
                <a16:creationId xmlns:a16="http://schemas.microsoft.com/office/drawing/2014/main" id="{83FDAEEA-7E12-3689-5D9A-A2146AA15C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891" y="1610187"/>
            <a:ext cx="4485459" cy="459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64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05F15-1E8C-A35F-7C51-BD2CC283F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-65">
            <a:extLst>
              <a:ext uri="{FF2B5EF4-FFF2-40B4-BE49-F238E27FC236}">
                <a16:creationId xmlns:a16="http://schemas.microsoft.com/office/drawing/2014/main" id="{9B7BAA68-A5EC-9705-7EAA-DFE30CBFF4C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Model deployment on Kubernetes</a:t>
            </a:r>
          </a:p>
        </p:txBody>
      </p:sp>
      <p:sp>
        <p:nvSpPr>
          <p:cNvPr id="2" name="page-66">
            <a:extLst>
              <a:ext uri="{FF2B5EF4-FFF2-40B4-BE49-F238E27FC236}">
                <a16:creationId xmlns:a16="http://schemas.microsoft.com/office/drawing/2014/main" id="{F97248DD-16A7-4EEB-DB55-D245299D94EB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lang="ar-SA" sz="1200" b="0" dirty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08</a:t>
            </a:r>
            <a:endParaRPr sz="1200" b="0" dirty="0">
              <a:solidFill>
                <a:srgbClr val="8D9BB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text-70">
            <a:extLst>
              <a:ext uri="{FF2B5EF4-FFF2-40B4-BE49-F238E27FC236}">
                <a16:creationId xmlns:a16="http://schemas.microsoft.com/office/drawing/2014/main" id="{7EF9451E-4D83-08ED-DA8E-8E2018DDD6ED}"/>
              </a:ext>
            </a:extLst>
          </p:cNvPr>
          <p:cNvSpPr>
            <a:spLocks noGrp="1"/>
          </p:cNvSpPr>
          <p:nvPr/>
        </p:nvSpPr>
        <p:spPr>
          <a:xfrm>
            <a:off x="647700" y="6324600"/>
            <a:ext cx="10096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*Resource requests / limits. Recorded pod snapshot.</a:t>
            </a:r>
          </a:p>
        </p:txBody>
      </p:sp>
      <p:pic>
        <p:nvPicPr>
          <p:cNvPr id="9" name="صورة 8">
            <a:extLst>
              <a:ext uri="{FF2B5EF4-FFF2-40B4-BE49-F238E27FC236}">
                <a16:creationId xmlns:a16="http://schemas.microsoft.com/office/drawing/2014/main" id="{6019C93B-0A17-685C-8647-5E67A9AF2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06096"/>
            <a:ext cx="6328542" cy="4276520"/>
          </a:xfrm>
          <a:prstGeom prst="rect">
            <a:avLst/>
          </a:prstGeom>
        </p:spPr>
      </p:pic>
      <p:pic>
        <p:nvPicPr>
          <p:cNvPr id="11" name="صورة 10">
            <a:extLst>
              <a:ext uri="{FF2B5EF4-FFF2-40B4-BE49-F238E27FC236}">
                <a16:creationId xmlns:a16="http://schemas.microsoft.com/office/drawing/2014/main" id="{7BA78A8F-BA08-86B3-6B09-1E9C937BC1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1400"/>
          <a:stretch>
            <a:fillRect/>
          </a:stretch>
        </p:blipFill>
        <p:spPr>
          <a:xfrm>
            <a:off x="7074525" y="1406095"/>
            <a:ext cx="4469775" cy="428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36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0BE86-0463-A256-2941-D1825109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-65">
            <a:extLst>
              <a:ext uri="{FF2B5EF4-FFF2-40B4-BE49-F238E27FC236}">
                <a16:creationId xmlns:a16="http://schemas.microsoft.com/office/drawing/2014/main" id="{C38E4C88-0379-27C2-BBCA-CA6D06CAE54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Model deployment on Kubernetes</a:t>
            </a:r>
          </a:p>
        </p:txBody>
      </p:sp>
      <p:sp>
        <p:nvSpPr>
          <p:cNvPr id="2" name="page-66">
            <a:extLst>
              <a:ext uri="{FF2B5EF4-FFF2-40B4-BE49-F238E27FC236}">
                <a16:creationId xmlns:a16="http://schemas.microsoft.com/office/drawing/2014/main" id="{FBE29094-DA10-0684-0E0B-11FC285FD7FE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lang="ar-SA" sz="1200" dirty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09</a:t>
            </a:r>
            <a:endParaRPr sz="1200" b="0" dirty="0">
              <a:solidFill>
                <a:srgbClr val="8D9BB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text-67">
            <a:extLst>
              <a:ext uri="{FF2B5EF4-FFF2-40B4-BE49-F238E27FC236}">
                <a16:creationId xmlns:a16="http://schemas.microsoft.com/office/drawing/2014/main" id="{BAF3BB1A-96E8-73CB-874B-5E3519FF72E3}"/>
              </a:ext>
            </a:extLst>
          </p:cNvPr>
          <p:cNvSpPr>
            <a:spLocks noGrp="1"/>
          </p:cNvSpPr>
          <p:nvPr/>
        </p:nvSpPr>
        <p:spPr>
          <a:xfrm>
            <a:off x="619125" y="16287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7A1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B7A1FF"/>
                </a:solidFill>
                <a:latin typeface="DejaVu Sans"/>
                <a:ea typeface="DejaVu Sans"/>
                <a:cs typeface="DejaVu Sans"/>
              </a:rPr>
              <a:t>Qwen2.5-VL-3B-Instruct-AWQ</a:t>
            </a:r>
          </a:p>
        </p:txBody>
      </p:sp>
      <p:sp>
        <p:nvSpPr>
          <p:cNvPr id="4" name="text-68">
            <a:extLst>
              <a:ext uri="{FF2B5EF4-FFF2-40B4-BE49-F238E27FC236}">
                <a16:creationId xmlns:a16="http://schemas.microsoft.com/office/drawing/2014/main" id="{F7D5CA88-7291-822F-76B9-08204E39D7E6}"/>
              </a:ext>
            </a:extLst>
          </p:cNvPr>
          <p:cNvSpPr>
            <a:spLocks noGrp="1"/>
          </p:cNvSpPr>
          <p:nvPr/>
        </p:nvSpPr>
        <p:spPr>
          <a:xfrm>
            <a:off x="638175" y="2266950"/>
            <a:ext cx="502920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vLLM AsyncLLMEngine</a:t>
            </a:r>
          </a:p>
          <a:p>
            <a:pPr algn="l">
              <a:defRPr sz="1950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RTX A6000, 4-bit AWQ</a:t>
            </a:r>
          </a:p>
          <a:p>
            <a:pPr algn="l">
              <a:defRPr sz="1950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8,192-token configured context</a:t>
            </a:r>
          </a:p>
        </p:txBody>
      </p:sp>
      <p:sp>
        <p:nvSpPr>
          <p:cNvPr id="5" name="text-69">
            <a:extLst>
              <a:ext uri="{FF2B5EF4-FFF2-40B4-BE49-F238E27FC236}">
                <a16:creationId xmlns:a16="http://schemas.microsoft.com/office/drawing/2014/main" id="{A3B949C4-3069-1028-2380-C90D0C2F58F2}"/>
              </a:ext>
            </a:extLst>
          </p:cNvPr>
          <p:cNvSpPr>
            <a:spLocks noGrp="1"/>
          </p:cNvSpPr>
          <p:nvPr/>
        </p:nvSpPr>
        <p:spPr>
          <a:xfrm>
            <a:off x="6286500" y="2266950"/>
            <a:ext cx="5305425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 dirty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Docker + k3s</a:t>
            </a:r>
          </a:p>
          <a:p>
            <a:pPr algn="l">
              <a:defRPr sz="1950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 dirty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1 replica, 1 GPU, 1 </a:t>
            </a:r>
            <a:r>
              <a:rPr sz="1950" b="0" dirty="0" err="1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Uvicorn</a:t>
            </a:r>
            <a:r>
              <a:rPr sz="1950" b="0" dirty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 worker</a:t>
            </a:r>
          </a:p>
          <a:p>
            <a:pPr algn="l">
              <a:defRPr sz="1950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 dirty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CPU 2 / 4 cores, RAM 8 / 16 GiB*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BAE2B4-0B20-230B-3025-FF87F12B5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73175" y="3400425"/>
            <a:ext cx="9645650" cy="2800350"/>
          </a:xfrm>
          <a:prstGeom prst="rect">
            <a:avLst/>
          </a:prstGeom>
        </p:spPr>
      </p:pic>
      <p:sp>
        <p:nvSpPr>
          <p:cNvPr id="7" name="text-70">
            <a:extLst>
              <a:ext uri="{FF2B5EF4-FFF2-40B4-BE49-F238E27FC236}">
                <a16:creationId xmlns:a16="http://schemas.microsoft.com/office/drawing/2014/main" id="{0100DD7A-7CB1-719D-ED7A-3F79F3BAAA95}"/>
              </a:ext>
            </a:extLst>
          </p:cNvPr>
          <p:cNvSpPr>
            <a:spLocks noGrp="1"/>
          </p:cNvSpPr>
          <p:nvPr/>
        </p:nvSpPr>
        <p:spPr>
          <a:xfrm>
            <a:off x="647700" y="6324600"/>
            <a:ext cx="10096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*Resource requests / limits. Recorded pod snapshot.</a:t>
            </a:r>
          </a:p>
        </p:txBody>
      </p:sp>
    </p:spTree>
    <p:extLst>
      <p:ext uri="{BB962C8B-B14F-4D97-AF65-F5344CB8AC3E}">
        <p14:creationId xmlns:p14="http://schemas.microsoft.com/office/powerpoint/2010/main" val="3172978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71">
            <a:extLst>
              <a:ext uri="{FF2B5EF4-FFF2-40B4-BE49-F238E27FC236}">
                <a16:creationId xmlns:a16="http://schemas.microsoft.com/office/drawing/2014/main" id="{26F98B2D-CA2B-44A9-A77B-41F35EFC762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Golden Set &amp; evaluation methodology</a:t>
            </a:r>
          </a:p>
        </p:txBody>
      </p:sp>
      <p:sp>
        <p:nvSpPr>
          <p:cNvPr id="2" name="page-72">
            <a:extLst>
              <a:ext uri="{FF2B5EF4-FFF2-40B4-BE49-F238E27FC236}">
                <a16:creationId xmlns:a16="http://schemas.microsoft.com/office/drawing/2014/main" id="{BFEEA5D2-72A8-4F1A-B5A0-88EBECFADA1D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lang="ar-SA" sz="1200" dirty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10</a:t>
            </a:r>
            <a:endParaRPr sz="1200" b="0" dirty="0">
              <a:solidFill>
                <a:srgbClr val="8D9BB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text-73">
            <a:extLst>
              <a:ext uri="{FF2B5EF4-FFF2-40B4-BE49-F238E27FC236}">
                <a16:creationId xmlns:a16="http://schemas.microsoft.com/office/drawing/2014/main" id="{253E19D4-2F28-43FA-A798-99A77586473B}"/>
              </a:ext>
            </a:extLst>
          </p:cNvPr>
          <p:cNvSpPr>
            <a:spLocks noGrp="1"/>
          </p:cNvSpPr>
          <p:nvPr/>
        </p:nvSpPr>
        <p:spPr>
          <a:xfrm>
            <a:off x="571500" y="1533525"/>
            <a:ext cx="4429125" cy="1800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550" b="1">
                <a:solidFill>
                  <a:srgbClr val="B7A1FF"/>
                </a:solidFill>
                <a:latin typeface="DejaVu Sans"/>
                <a:ea typeface="DejaVu Sans"/>
                <a:cs typeface="DejaVu Sans"/>
              </a:defRPr>
            </a:pPr>
            <a:r>
              <a:rPr sz="11550" b="1">
                <a:solidFill>
                  <a:srgbClr val="B7A1FF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4" name="text-74">
            <a:extLst>
              <a:ext uri="{FF2B5EF4-FFF2-40B4-BE49-F238E27FC236}">
                <a16:creationId xmlns:a16="http://schemas.microsoft.com/office/drawing/2014/main" id="{361AA1C1-FC9C-41F8-AFE8-7E65427C23DB}"/>
              </a:ext>
            </a:extLst>
          </p:cNvPr>
          <p:cNvSpPr>
            <a:spLocks noGrp="1"/>
          </p:cNvSpPr>
          <p:nvPr/>
        </p:nvSpPr>
        <p:spPr>
          <a:xfrm>
            <a:off x="676275" y="3514725"/>
            <a:ext cx="49625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human-reviewed files</a:t>
            </a:r>
          </a:p>
        </p:txBody>
      </p:sp>
      <p:sp>
        <p:nvSpPr>
          <p:cNvPr id="5" name="text-75">
            <a:extLst>
              <a:ext uri="{FF2B5EF4-FFF2-40B4-BE49-F238E27FC236}">
                <a16:creationId xmlns:a16="http://schemas.microsoft.com/office/drawing/2014/main" id="{295369BC-6531-475E-B506-33BD4C953C1F}"/>
              </a:ext>
            </a:extLst>
          </p:cNvPr>
          <p:cNvSpPr>
            <a:spLocks noGrp="1"/>
          </p:cNvSpPr>
          <p:nvPr/>
        </p:nvSpPr>
        <p:spPr>
          <a:xfrm>
            <a:off x="676275" y="4219575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66D9E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66D9E5"/>
                </a:solidFill>
                <a:latin typeface="DejaVu Sans"/>
                <a:ea typeface="DejaVu Sans"/>
                <a:cs typeface="DejaVu Sans"/>
              </a:rPr>
              <a:t>.pptx    .ipynb    .xlsx    .md</a:t>
            </a:r>
          </a:p>
        </p:txBody>
      </p:sp>
      <p:sp>
        <p:nvSpPr>
          <p:cNvPr id="6" name="text-76">
            <a:extLst>
              <a:ext uri="{FF2B5EF4-FFF2-40B4-BE49-F238E27FC236}">
                <a16:creationId xmlns:a16="http://schemas.microsoft.com/office/drawing/2014/main" id="{83365EF4-E1C7-46F5-BF82-7A07DE9C4CF3}"/>
              </a:ext>
            </a:extLst>
          </p:cNvPr>
          <p:cNvSpPr>
            <a:spLocks noGrp="1"/>
          </p:cNvSpPr>
          <p:nvPr/>
        </p:nvSpPr>
        <p:spPr>
          <a:xfrm>
            <a:off x="676275" y="4972050"/>
            <a:ext cx="4953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Python, machine learning,</a:t>
            </a:r>
          </a:p>
          <a:p>
            <a:pPr algn="l">
              <a:defRPr sz="20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SQL and data science</a:t>
            </a:r>
          </a:p>
        </p:txBody>
      </p:sp>
      <p:sp>
        <p:nvSpPr>
          <p:cNvPr id="7" name="text-77">
            <a:extLst>
              <a:ext uri="{FF2B5EF4-FFF2-40B4-BE49-F238E27FC236}">
                <a16:creationId xmlns:a16="http://schemas.microsoft.com/office/drawing/2014/main" id="{3AD0C5CC-CE58-405F-8AF4-7244EBA20FDA}"/>
              </a:ext>
            </a:extLst>
          </p:cNvPr>
          <p:cNvSpPr>
            <a:spLocks noGrp="1"/>
          </p:cNvSpPr>
          <p:nvPr/>
        </p:nvSpPr>
        <p:spPr>
          <a:xfrm>
            <a:off x="6448425" y="1666875"/>
            <a:ext cx="51339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66D9E5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66D9E5"/>
                </a:solidFill>
                <a:latin typeface="DejaVu Sans"/>
                <a:ea typeface="DejaVu Sans"/>
                <a:cs typeface="DejaVu Sans"/>
              </a:rPr>
              <a:t>CONSISTENT COMPARISON</a:t>
            </a:r>
          </a:p>
        </p:txBody>
      </p:sp>
      <p:sp>
        <p:nvSpPr>
          <p:cNvPr id="8" name="text-78">
            <a:extLst>
              <a:ext uri="{FF2B5EF4-FFF2-40B4-BE49-F238E27FC236}">
                <a16:creationId xmlns:a16="http://schemas.microsoft.com/office/drawing/2014/main" id="{EFF6E1F9-F424-4B5D-A9B5-228E843D5FF2}"/>
              </a:ext>
            </a:extLst>
          </p:cNvPr>
          <p:cNvSpPr>
            <a:spLocks noGrp="1"/>
          </p:cNvSpPr>
          <p:nvPr/>
        </p:nvSpPr>
        <p:spPr>
          <a:xfrm>
            <a:off x="6457950" y="2181225"/>
            <a:ext cx="5038725" cy="1962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200"/>
              </a:spcAft>
              <a:buChar char="•"/>
              <a:defRPr sz="20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t>Same reviewed reference labels</a:t>
            </a:r>
          </a:p>
          <a:p>
            <a:pPr marL="228600" indent="-114300" algn="l">
              <a:spcAft>
                <a:spcPts val="1200"/>
              </a:spcAft>
              <a:buChar char="•"/>
              <a:defRPr sz="20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t>Same pipeline and scoring logic</a:t>
            </a:r>
          </a:p>
          <a:p>
            <a:pPr marL="228600" indent="-114300" algn="l">
              <a:spcAft>
                <a:spcPts val="1200"/>
              </a:spcAft>
              <a:buChar char="•"/>
              <a:defRPr sz="20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t>Predictions based on file content</a:t>
            </a:r>
          </a:p>
        </p:txBody>
      </p:sp>
      <p:sp>
        <p:nvSpPr>
          <p:cNvPr id="9" name="text-79">
            <a:extLst>
              <a:ext uri="{FF2B5EF4-FFF2-40B4-BE49-F238E27FC236}">
                <a16:creationId xmlns:a16="http://schemas.microsoft.com/office/drawing/2014/main" id="{A87C7072-8649-4B8B-A697-0CEAB6E8ECAB}"/>
              </a:ext>
            </a:extLst>
          </p:cNvPr>
          <p:cNvSpPr>
            <a:spLocks noGrp="1"/>
          </p:cNvSpPr>
          <p:nvPr/>
        </p:nvSpPr>
        <p:spPr>
          <a:xfrm>
            <a:off x="6448425" y="4533900"/>
            <a:ext cx="51339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B7A1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B7A1FF"/>
                </a:solidFill>
                <a:latin typeface="DejaVu Sans"/>
                <a:ea typeface="DejaVu Sans"/>
                <a:cs typeface="DejaVu Sans"/>
              </a:rPr>
              <a:t>QUALITY + OPERATIONS</a:t>
            </a:r>
          </a:p>
        </p:txBody>
      </p:sp>
      <p:sp>
        <p:nvSpPr>
          <p:cNvPr id="10" name="text-80">
            <a:extLst>
              <a:ext uri="{FF2B5EF4-FFF2-40B4-BE49-F238E27FC236}">
                <a16:creationId xmlns:a16="http://schemas.microsoft.com/office/drawing/2014/main" id="{6A2AF52E-FCE7-48D8-8B38-E433074AAB02}"/>
              </a:ext>
            </a:extLst>
          </p:cNvPr>
          <p:cNvSpPr>
            <a:spLocks noGrp="1"/>
          </p:cNvSpPr>
          <p:nvPr/>
        </p:nvSpPr>
        <p:spPr>
          <a:xfrm>
            <a:off x="6457950" y="5095875"/>
            <a:ext cx="5095875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Tags, difficulty, skills, retrieval, validity</a:t>
            </a:r>
          </a:p>
          <a:p>
            <a:pPr algn="l">
              <a:defRPr sz="187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E2E latency, tokens, cost and load</a:t>
            </a:r>
          </a:p>
        </p:txBody>
      </p:sp>
    </p:spTree>
    <p:extLst>
      <p:ext uri="{BB962C8B-B14F-4D97-AF65-F5344CB8AC3E}">
        <p14:creationId xmlns:p14="http://schemas.microsoft.com/office/powerpoint/2010/main" val="1333829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-81">
            <a:extLst>
              <a:ext uri="{FF2B5EF4-FFF2-40B4-BE49-F238E27FC236}">
                <a16:creationId xmlns:a16="http://schemas.microsoft.com/office/drawing/2014/main" id="{99ACED5D-3445-4F23-8E85-FD5DD48048E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Quality benchmark</a:t>
            </a:r>
          </a:p>
        </p:txBody>
      </p:sp>
      <p:sp>
        <p:nvSpPr>
          <p:cNvPr id="2" name="text-82">
            <a:extLst>
              <a:ext uri="{FF2B5EF4-FFF2-40B4-BE49-F238E27FC236}">
                <a16:creationId xmlns:a16="http://schemas.microsoft.com/office/drawing/2014/main" id="{C0246924-1E0E-4837-BB45-4DF06461F978}"/>
              </a:ext>
            </a:extLst>
          </p:cNvPr>
          <p:cNvSpPr>
            <a:spLocks noGrp="1"/>
          </p:cNvSpPr>
          <p:nvPr/>
        </p:nvSpPr>
        <p:spPr>
          <a:xfrm>
            <a:off x="628650" y="1143000"/>
            <a:ext cx="109156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GPT-4o-mini leads tagging and difficulty. Qwen leads skills mapping.</a:t>
            </a:r>
          </a:p>
        </p:txBody>
      </p:sp>
      <p:sp>
        <p:nvSpPr>
          <p:cNvPr id="3" name="page-83">
            <a:extLst>
              <a:ext uri="{FF2B5EF4-FFF2-40B4-BE49-F238E27FC236}">
                <a16:creationId xmlns:a16="http://schemas.microsoft.com/office/drawing/2014/main" id="{7D651CBD-3596-4DAA-940F-B0FAE742B41A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lang="ar-SA" sz="1200" b="0" dirty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11</a:t>
            </a:r>
            <a:endParaRPr sz="1200" b="0" dirty="0">
              <a:solidFill>
                <a:srgbClr val="8D9BB3"/>
              </a:solidFill>
              <a:latin typeface="DejaVu Sans"/>
              <a:ea typeface="DejaVu Sans"/>
              <a:cs typeface="DejaVu Sans"/>
            </a:endParaRPr>
          </a:p>
        </p:txBody>
      </p:sp>
      <p:graphicFrame>
        <p:nvGraphicFramePr>
          <p:cNvPr id="13" name="Chart"/>
          <p:cNvGraphicFramePr/>
          <p:nvPr/>
        </p:nvGraphicFramePr>
        <p:xfrm>
          <a:off x="581025" y="1704975"/>
          <a:ext cx="10953750" cy="3543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-84">
            <a:extLst>
              <a:ext uri="{FF2B5EF4-FFF2-40B4-BE49-F238E27FC236}">
                <a16:creationId xmlns:a16="http://schemas.microsoft.com/office/drawing/2014/main" id="{D03FF77E-F3D4-4506-A473-103EBB2BEF14}"/>
              </a:ext>
            </a:extLst>
          </p:cNvPr>
          <p:cNvSpPr>
            <a:spLocks noGrp="1"/>
          </p:cNvSpPr>
          <p:nvPr/>
        </p:nvSpPr>
        <p:spPr>
          <a:xfrm>
            <a:off x="657225" y="5448300"/>
            <a:ext cx="21240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86.1%</a:t>
            </a:r>
          </a:p>
        </p:txBody>
      </p:sp>
      <p:sp>
        <p:nvSpPr>
          <p:cNvPr id="6" name="text-85">
            <a:extLst>
              <a:ext uri="{FF2B5EF4-FFF2-40B4-BE49-F238E27FC236}">
                <a16:creationId xmlns:a16="http://schemas.microsoft.com/office/drawing/2014/main" id="{C6F92083-610E-485F-9184-682D98717E80}"/>
              </a:ext>
            </a:extLst>
          </p:cNvPr>
          <p:cNvSpPr>
            <a:spLocks noGrp="1"/>
          </p:cNvSpPr>
          <p:nvPr/>
        </p:nvSpPr>
        <p:spPr>
          <a:xfrm>
            <a:off x="2857500" y="5524500"/>
            <a:ext cx="28003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RAG pool recall</a:t>
            </a:r>
          </a:p>
          <a:p>
            <a:pPr algn="l">
              <a:def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both models</a:t>
            </a:r>
          </a:p>
        </p:txBody>
      </p:sp>
      <p:sp>
        <p:nvSpPr>
          <p:cNvPr id="7" name="text-86">
            <a:extLst>
              <a:ext uri="{FF2B5EF4-FFF2-40B4-BE49-F238E27FC236}">
                <a16:creationId xmlns:a16="http://schemas.microsoft.com/office/drawing/2014/main" id="{A10C786E-D177-41C2-A0C3-D150E3AFA0F8}"/>
              </a:ext>
            </a:extLst>
          </p:cNvPr>
          <p:cNvSpPr>
            <a:spLocks noGrp="1"/>
          </p:cNvSpPr>
          <p:nvPr/>
        </p:nvSpPr>
        <p:spPr>
          <a:xfrm>
            <a:off x="6457950" y="5448300"/>
            <a:ext cx="21717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100%</a:t>
            </a:r>
          </a:p>
        </p:txBody>
      </p:sp>
      <p:sp>
        <p:nvSpPr>
          <p:cNvPr id="8" name="text-87">
            <a:extLst>
              <a:ext uri="{FF2B5EF4-FFF2-40B4-BE49-F238E27FC236}">
                <a16:creationId xmlns:a16="http://schemas.microsoft.com/office/drawing/2014/main" id="{7DA9181E-DD44-49B9-A6F9-F220EDE6AE51}"/>
              </a:ext>
            </a:extLst>
          </p:cNvPr>
          <p:cNvSpPr>
            <a:spLocks noGrp="1"/>
          </p:cNvSpPr>
          <p:nvPr/>
        </p:nvSpPr>
        <p:spPr>
          <a:xfrm>
            <a:off x="8667750" y="5524500"/>
            <a:ext cx="289560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Structural validity</a:t>
            </a:r>
          </a:p>
          <a:p>
            <a:pPr algn="l">
              <a:def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benchmark checks</a:t>
            </a:r>
          </a:p>
        </p:txBody>
      </p:sp>
      <p:sp>
        <p:nvSpPr>
          <p:cNvPr id="9" name="text-88">
            <a:extLst>
              <a:ext uri="{FF2B5EF4-FFF2-40B4-BE49-F238E27FC236}">
                <a16:creationId xmlns:a16="http://schemas.microsoft.com/office/drawing/2014/main" id="{EFFF3FCB-FF64-49F2-AF2C-4017BCA44FCA}"/>
              </a:ext>
            </a:extLst>
          </p:cNvPr>
          <p:cNvSpPr>
            <a:spLocks noGrp="1"/>
          </p:cNvSpPr>
          <p:nvPr/>
        </p:nvSpPr>
        <p:spPr>
          <a:xfrm>
            <a:off x="638175" y="6343650"/>
            <a:ext cx="10334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*Equal-weight mean of difficulty accuracy and strict tag Jaccard. 12 files per model.</a:t>
            </a:r>
          </a:p>
        </p:txBody>
      </p:sp>
    </p:spTree>
    <p:extLst>
      <p:ext uri="{BB962C8B-B14F-4D97-AF65-F5344CB8AC3E}">
        <p14:creationId xmlns:p14="http://schemas.microsoft.com/office/powerpoint/2010/main" val="599837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-89">
            <a:extLst>
              <a:ext uri="{FF2B5EF4-FFF2-40B4-BE49-F238E27FC236}">
                <a16:creationId xmlns:a16="http://schemas.microsoft.com/office/drawing/2014/main" id="{01D595A8-54D2-4BB3-86C9-5CE721F37D3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Sequential latency, throughput &amp; cost</a:t>
            </a:r>
          </a:p>
        </p:txBody>
      </p:sp>
      <p:sp>
        <p:nvSpPr>
          <p:cNvPr id="2" name="text-90">
            <a:extLst>
              <a:ext uri="{FF2B5EF4-FFF2-40B4-BE49-F238E27FC236}">
                <a16:creationId xmlns:a16="http://schemas.microsoft.com/office/drawing/2014/main" id="{BE98E4E7-429C-4BAC-AE77-D3125F5D7A19}"/>
              </a:ext>
            </a:extLst>
          </p:cNvPr>
          <p:cNvSpPr>
            <a:spLocks noGrp="1"/>
          </p:cNvSpPr>
          <p:nvPr/>
        </p:nvSpPr>
        <p:spPr>
          <a:xfrm>
            <a:off x="628650" y="1143000"/>
            <a:ext cx="109156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Final 12-file benchmark</a:t>
            </a:r>
          </a:p>
        </p:txBody>
      </p:sp>
      <p:sp>
        <p:nvSpPr>
          <p:cNvPr id="3" name="page-91">
            <a:extLst>
              <a:ext uri="{FF2B5EF4-FFF2-40B4-BE49-F238E27FC236}">
                <a16:creationId xmlns:a16="http://schemas.microsoft.com/office/drawing/2014/main" id="{EF774092-9911-4330-9901-528B994AC4F2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lang="ar-SA" sz="1200" b="0" dirty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12</a:t>
            </a:r>
            <a:endParaRPr sz="1200" b="0" dirty="0">
              <a:solidFill>
                <a:srgbClr val="8D9BB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text-92">
            <a:extLst>
              <a:ext uri="{FF2B5EF4-FFF2-40B4-BE49-F238E27FC236}">
                <a16:creationId xmlns:a16="http://schemas.microsoft.com/office/drawing/2014/main" id="{01D61F27-24D0-4775-8C62-A379ADF19081}"/>
              </a:ext>
            </a:extLst>
          </p:cNvPr>
          <p:cNvSpPr>
            <a:spLocks noGrp="1"/>
          </p:cNvSpPr>
          <p:nvPr/>
        </p:nvSpPr>
        <p:spPr>
          <a:xfrm>
            <a:off x="628650" y="1666875"/>
            <a:ext cx="4895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Average client E2E latency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581025" y="2228850"/>
          <a:ext cx="4838700" cy="2933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Table 13"/>
          <p:cNvGraphicFramePr/>
          <p:nvPr/>
        </p:nvGraphicFramePr>
        <p:xfrm>
          <a:off x="5905500" y="1743075"/>
          <a:ext cx="5657850" cy="3105152"/>
        </p:xfrm>
        <a:graphic>
          <a:graphicData uri="http://schemas.openxmlformats.org/drawingml/2006/table">
            <a:tbl>
              <a:tblPr/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6288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B7A1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Qwen</a:t>
                      </a:r>
                    </a:p>
                  </a:txBody>
                  <a:tcPr anchor="ctr"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66D9E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GPT-4o-mini</a:t>
                      </a:r>
                    </a:p>
                  </a:txBody>
                  <a:tcPr anchor="ctr">
                    <a:solidFill>
                      <a:srgbClr val="21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2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Est. files/hour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63.8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50.0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2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 tokens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107,195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287,621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2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Exported cost</a:t>
                      </a:r>
                    </a:p>
                    <a:p>
                      <a:r>
                        <a:rPr sz="1725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 1,000 files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$4.79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$6.22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-93">
            <a:extLst>
              <a:ext uri="{FF2B5EF4-FFF2-40B4-BE49-F238E27FC236}">
                <a16:creationId xmlns:a16="http://schemas.microsoft.com/office/drawing/2014/main" id="{EEB354C9-2121-46B1-9561-D16167063790}"/>
              </a:ext>
            </a:extLst>
          </p:cNvPr>
          <p:cNvSpPr>
            <a:spLocks noGrp="1"/>
          </p:cNvSpPr>
          <p:nvPr/>
        </p:nvSpPr>
        <p:spPr>
          <a:xfrm>
            <a:off x="619125" y="5353050"/>
            <a:ext cx="109442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F4CF8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4CF8B"/>
                </a:solidFill>
                <a:latin typeface="DejaVu Sans"/>
                <a:ea typeface="DejaVu Sans"/>
                <a:cs typeface="DejaVu Sans"/>
              </a:rPr>
              <a:t>Cost estimates need reconciliation</a:t>
            </a:r>
          </a:p>
        </p:txBody>
      </p:sp>
      <p:sp>
        <p:nvSpPr>
          <p:cNvPr id="8" name="text-94">
            <a:extLst>
              <a:ext uri="{FF2B5EF4-FFF2-40B4-BE49-F238E27FC236}">
                <a16:creationId xmlns:a16="http://schemas.microsoft.com/office/drawing/2014/main" id="{2113ABAD-FE2D-4CFD-AA0F-F7F4E155E518}"/>
              </a:ext>
            </a:extLst>
          </p:cNvPr>
          <p:cNvSpPr>
            <a:spLocks noGrp="1"/>
          </p:cNvSpPr>
          <p:nvPr/>
        </p:nvSpPr>
        <p:spPr>
          <a:xfrm>
            <a:off x="638175" y="5838825"/>
            <a:ext cx="1075372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The OpenAI export uses GPU-time costing in this endpoint.</a:t>
            </a:r>
          </a:p>
          <a:p>
            <a:pPr algn="l">
              <a:defRPr sz="1500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Token totals also depend on each model’s tokenizer and multi-pass prompts.</a:t>
            </a:r>
          </a:p>
        </p:txBody>
      </p:sp>
    </p:spTree>
    <p:extLst>
      <p:ext uri="{BB962C8B-B14F-4D97-AF65-F5344CB8AC3E}">
        <p14:creationId xmlns:p14="http://schemas.microsoft.com/office/powerpoint/2010/main" val="125381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-95">
            <a:extLst>
              <a:ext uri="{FF2B5EF4-FFF2-40B4-BE49-F238E27FC236}">
                <a16:creationId xmlns:a16="http://schemas.microsoft.com/office/drawing/2014/main" id="{758AAE36-5155-4417-9AEC-211E09DC20C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Concurrent load test</a:t>
            </a:r>
          </a:p>
        </p:txBody>
      </p:sp>
      <p:sp>
        <p:nvSpPr>
          <p:cNvPr id="2" name="text-96">
            <a:extLst>
              <a:ext uri="{FF2B5EF4-FFF2-40B4-BE49-F238E27FC236}">
                <a16:creationId xmlns:a16="http://schemas.microsoft.com/office/drawing/2014/main" id="{6A28E227-58BD-41C0-960E-4811EA8F5A40}"/>
              </a:ext>
            </a:extLst>
          </p:cNvPr>
          <p:cNvSpPr>
            <a:spLocks noGrp="1"/>
          </p:cNvSpPr>
          <p:nvPr/>
        </p:nvSpPr>
        <p:spPr>
          <a:xfrm>
            <a:off x="628650" y="1143000"/>
            <a:ext cx="109156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3 simultaneous users, each submitting the same 3 files in sequence</a:t>
            </a:r>
          </a:p>
        </p:txBody>
      </p:sp>
      <p:sp>
        <p:nvSpPr>
          <p:cNvPr id="3" name="page-97">
            <a:extLst>
              <a:ext uri="{FF2B5EF4-FFF2-40B4-BE49-F238E27FC236}">
                <a16:creationId xmlns:a16="http://schemas.microsoft.com/office/drawing/2014/main" id="{24410888-BF50-42F1-A72B-DBF2C091B01D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lang="ar-SA" sz="1200" dirty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13</a:t>
            </a:r>
            <a:endParaRPr sz="1200" b="0" dirty="0">
              <a:solidFill>
                <a:srgbClr val="8D9BB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text-98">
            <a:extLst>
              <a:ext uri="{FF2B5EF4-FFF2-40B4-BE49-F238E27FC236}">
                <a16:creationId xmlns:a16="http://schemas.microsoft.com/office/drawing/2014/main" id="{7CFC6C3B-39AF-4B9E-A804-93E12CE67FD5}"/>
              </a:ext>
            </a:extLst>
          </p:cNvPr>
          <p:cNvSpPr>
            <a:spLocks noGrp="1"/>
          </p:cNvSpPr>
          <p:nvPr/>
        </p:nvSpPr>
        <p:spPr>
          <a:xfrm>
            <a:off x="600075" y="1752600"/>
            <a:ext cx="27813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150" b="1">
                <a:solidFill>
                  <a:srgbClr val="B7A1FF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B7A1FF"/>
                </a:solidFill>
                <a:latin typeface="DejaVu Sans"/>
                <a:ea typeface="DejaVu Sans"/>
                <a:cs typeface="DejaVu Sans"/>
              </a:rPr>
              <a:t>89</a:t>
            </a:r>
          </a:p>
        </p:txBody>
      </p:sp>
      <p:sp>
        <p:nvSpPr>
          <p:cNvPr id="5" name="text-99">
            <a:extLst>
              <a:ext uri="{FF2B5EF4-FFF2-40B4-BE49-F238E27FC236}">
                <a16:creationId xmlns:a16="http://schemas.microsoft.com/office/drawing/2014/main" id="{8C233297-1CB4-402E-89EF-410ADFA4CEB8}"/>
              </a:ext>
            </a:extLst>
          </p:cNvPr>
          <p:cNvSpPr>
            <a:spLocks noGrp="1"/>
          </p:cNvSpPr>
          <p:nvPr/>
        </p:nvSpPr>
        <p:spPr>
          <a:xfrm>
            <a:off x="638175" y="2867025"/>
            <a:ext cx="29527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Qwen files/hour</a:t>
            </a:r>
          </a:p>
        </p:txBody>
      </p:sp>
      <p:sp>
        <p:nvSpPr>
          <p:cNvPr id="6" name="text-100">
            <a:extLst>
              <a:ext uri="{FF2B5EF4-FFF2-40B4-BE49-F238E27FC236}">
                <a16:creationId xmlns:a16="http://schemas.microsoft.com/office/drawing/2014/main" id="{D9929C46-83AB-4A2D-91F2-24C9E9527FAB}"/>
              </a:ext>
            </a:extLst>
          </p:cNvPr>
          <p:cNvSpPr>
            <a:spLocks noGrp="1"/>
          </p:cNvSpPr>
          <p:nvPr/>
        </p:nvSpPr>
        <p:spPr>
          <a:xfrm>
            <a:off x="638175" y="3419475"/>
            <a:ext cx="3314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1.24× workload speedup</a:t>
            </a:r>
          </a:p>
        </p:txBody>
      </p:sp>
      <p:sp>
        <p:nvSpPr>
          <p:cNvPr id="7" name="text-101">
            <a:extLst>
              <a:ext uri="{FF2B5EF4-FFF2-40B4-BE49-F238E27FC236}">
                <a16:creationId xmlns:a16="http://schemas.microsoft.com/office/drawing/2014/main" id="{BD72CFF6-F216-4726-BACB-1504926FD0F9}"/>
              </a:ext>
            </a:extLst>
          </p:cNvPr>
          <p:cNvSpPr>
            <a:spLocks noGrp="1"/>
          </p:cNvSpPr>
          <p:nvPr/>
        </p:nvSpPr>
        <p:spPr>
          <a:xfrm>
            <a:off x="4438650" y="1752600"/>
            <a:ext cx="315277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150" b="1">
                <a:solidFill>
                  <a:srgbClr val="66D9E5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66D9E5"/>
                </a:solidFill>
                <a:latin typeface="DejaVu Sans"/>
                <a:ea typeface="DejaVu Sans"/>
                <a:cs typeface="DejaVu Sans"/>
              </a:rPr>
              <a:t>100</a:t>
            </a:r>
          </a:p>
        </p:txBody>
      </p:sp>
      <p:sp>
        <p:nvSpPr>
          <p:cNvPr id="8" name="text-102">
            <a:extLst>
              <a:ext uri="{FF2B5EF4-FFF2-40B4-BE49-F238E27FC236}">
                <a16:creationId xmlns:a16="http://schemas.microsoft.com/office/drawing/2014/main" id="{98CD8FAC-76C5-4C3D-9841-4FF87D63CECE}"/>
              </a:ext>
            </a:extLst>
          </p:cNvPr>
          <p:cNvSpPr>
            <a:spLocks noGrp="1"/>
          </p:cNvSpPr>
          <p:nvPr/>
        </p:nvSpPr>
        <p:spPr>
          <a:xfrm>
            <a:off x="4476750" y="2867025"/>
            <a:ext cx="39814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GPT-4o-mini files/hour</a:t>
            </a:r>
          </a:p>
        </p:txBody>
      </p:sp>
      <p:sp>
        <p:nvSpPr>
          <p:cNvPr id="9" name="text-103">
            <a:extLst>
              <a:ext uri="{FF2B5EF4-FFF2-40B4-BE49-F238E27FC236}">
                <a16:creationId xmlns:a16="http://schemas.microsoft.com/office/drawing/2014/main" id="{2B90FE6F-FB50-48DF-A1B8-BEE9DB572C8D}"/>
              </a:ext>
            </a:extLst>
          </p:cNvPr>
          <p:cNvSpPr>
            <a:spLocks noGrp="1"/>
          </p:cNvSpPr>
          <p:nvPr/>
        </p:nvSpPr>
        <p:spPr>
          <a:xfrm>
            <a:off x="4476750" y="3419475"/>
            <a:ext cx="335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1.16× workload speedup</a:t>
            </a:r>
          </a:p>
        </p:txBody>
      </p:sp>
      <p:sp>
        <p:nvSpPr>
          <p:cNvPr id="10" name="text-104">
            <a:extLst>
              <a:ext uri="{FF2B5EF4-FFF2-40B4-BE49-F238E27FC236}">
                <a16:creationId xmlns:a16="http://schemas.microsoft.com/office/drawing/2014/main" id="{6293CEE2-9064-4D63-8EBF-14E33746D614}"/>
              </a:ext>
            </a:extLst>
          </p:cNvPr>
          <p:cNvSpPr>
            <a:spLocks noGrp="1"/>
          </p:cNvSpPr>
          <p:nvPr/>
        </p:nvSpPr>
        <p:spPr>
          <a:xfrm>
            <a:off x="9001125" y="1752600"/>
            <a:ext cx="25336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150" b="1">
                <a:solidFill>
                  <a:srgbClr val="8FDFBB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8FDFBB"/>
                </a:solidFill>
                <a:latin typeface="DejaVu Sans"/>
                <a:ea typeface="DejaVu Sans"/>
                <a:cs typeface="DejaVu Sans"/>
              </a:rPr>
              <a:t>9/9</a:t>
            </a:r>
          </a:p>
        </p:txBody>
      </p:sp>
      <p:sp>
        <p:nvSpPr>
          <p:cNvPr id="11" name="text-105">
            <a:extLst>
              <a:ext uri="{FF2B5EF4-FFF2-40B4-BE49-F238E27FC236}">
                <a16:creationId xmlns:a16="http://schemas.microsoft.com/office/drawing/2014/main" id="{146A580E-9EC3-4CF3-8E1A-D01C342434B4}"/>
              </a:ext>
            </a:extLst>
          </p:cNvPr>
          <p:cNvSpPr>
            <a:spLocks noGrp="1"/>
          </p:cNvSpPr>
          <p:nvPr/>
        </p:nvSpPr>
        <p:spPr>
          <a:xfrm>
            <a:off x="9020175" y="2867025"/>
            <a:ext cx="26574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successful requests</a:t>
            </a:r>
          </a:p>
        </p:txBody>
      </p:sp>
      <p:sp>
        <p:nvSpPr>
          <p:cNvPr id="12" name="text-106">
            <a:extLst>
              <a:ext uri="{FF2B5EF4-FFF2-40B4-BE49-F238E27FC236}">
                <a16:creationId xmlns:a16="http://schemas.microsoft.com/office/drawing/2014/main" id="{92D10E26-6037-4150-B082-961DBEA77E74}"/>
              </a:ext>
            </a:extLst>
          </p:cNvPr>
          <p:cNvSpPr>
            <a:spLocks noGrp="1"/>
          </p:cNvSpPr>
          <p:nvPr/>
        </p:nvSpPr>
        <p:spPr>
          <a:xfrm>
            <a:off x="9020175" y="3419475"/>
            <a:ext cx="25431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for each model</a:t>
            </a:r>
          </a:p>
        </p:txBody>
      </p:sp>
      <p:sp>
        <p:nvSpPr>
          <p:cNvPr id="13" name="text-107">
            <a:extLst>
              <a:ext uri="{FF2B5EF4-FFF2-40B4-BE49-F238E27FC236}">
                <a16:creationId xmlns:a16="http://schemas.microsoft.com/office/drawing/2014/main" id="{D36C034C-3E3E-4012-9483-5E89025A8512}"/>
              </a:ext>
            </a:extLst>
          </p:cNvPr>
          <p:cNvSpPr>
            <a:spLocks noGrp="1"/>
          </p:cNvSpPr>
          <p:nvPr/>
        </p:nvSpPr>
        <p:spPr>
          <a:xfrm>
            <a:off x="638175" y="3905250"/>
            <a:ext cx="108489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Mean request latency: Qwen 120.8 s / GPT-4o-mini 108.1 s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47825" y="4325850"/>
            <a:ext cx="8858250" cy="2092500"/>
          </a:xfrm>
          <a:prstGeom prst="rect">
            <a:avLst/>
          </a:prstGeom>
        </p:spPr>
      </p:pic>
      <p:sp>
        <p:nvSpPr>
          <p:cNvPr id="15" name="text-108">
            <a:extLst>
              <a:ext uri="{FF2B5EF4-FFF2-40B4-BE49-F238E27FC236}">
                <a16:creationId xmlns:a16="http://schemas.microsoft.com/office/drawing/2014/main" id="{B85D3D52-7672-4982-8658-9CD0D2EDD931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144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Separate from the 12-file benchmark. Each speedup uses its own 3-file baseline.</a:t>
            </a:r>
          </a:p>
        </p:txBody>
      </p:sp>
    </p:spTree>
    <p:extLst>
      <p:ext uri="{BB962C8B-B14F-4D97-AF65-F5344CB8AC3E}">
        <p14:creationId xmlns:p14="http://schemas.microsoft.com/office/powerpoint/2010/main" val="236448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-109">
            <a:extLst>
              <a:ext uri="{FF2B5EF4-FFF2-40B4-BE49-F238E27FC236}">
                <a16:creationId xmlns:a16="http://schemas.microsoft.com/office/drawing/2014/main" id="{EDE4BAE6-1581-48D1-BA51-45F97A35059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Continuous batching in Qwen</a:t>
            </a:r>
          </a:p>
        </p:txBody>
      </p:sp>
      <p:sp>
        <p:nvSpPr>
          <p:cNvPr id="2" name="page-110">
            <a:extLst>
              <a:ext uri="{FF2B5EF4-FFF2-40B4-BE49-F238E27FC236}">
                <a16:creationId xmlns:a16="http://schemas.microsoft.com/office/drawing/2014/main" id="{6C2AE2C1-BE7F-4CD6-91E3-C2DCEDCEF6A3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lang="ar-SA" sz="1200" b="0" dirty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15</a:t>
            </a:r>
            <a:endParaRPr sz="1200" b="0" dirty="0">
              <a:solidFill>
                <a:srgbClr val="8D9BB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text-111">
            <a:extLst>
              <a:ext uri="{FF2B5EF4-FFF2-40B4-BE49-F238E27FC236}">
                <a16:creationId xmlns:a16="http://schemas.microsoft.com/office/drawing/2014/main" id="{DA9451CA-B8AB-46A4-B97E-301D0FC29F2F}"/>
              </a:ext>
            </a:extLst>
          </p:cNvPr>
          <p:cNvSpPr>
            <a:spLocks noGrp="1"/>
          </p:cNvSpPr>
          <p:nvPr/>
        </p:nvSpPr>
        <p:spPr>
          <a:xfrm>
            <a:off x="581025" y="1571625"/>
            <a:ext cx="2333625" cy="1857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850" b="1">
                <a:solidFill>
                  <a:srgbClr val="B7A1FF"/>
                </a:solidFill>
                <a:latin typeface="DejaVu Sans"/>
                <a:ea typeface="DejaVu Sans"/>
                <a:cs typeface="DejaVu Sans"/>
              </a:defRPr>
            </a:pPr>
            <a:r>
              <a:rPr sz="11850" b="1">
                <a:solidFill>
                  <a:srgbClr val="B7A1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text-112">
            <a:extLst>
              <a:ext uri="{FF2B5EF4-FFF2-40B4-BE49-F238E27FC236}">
                <a16:creationId xmlns:a16="http://schemas.microsoft.com/office/drawing/2014/main" id="{25A581B6-0531-4917-8D56-EB3923E51937}"/>
              </a:ext>
            </a:extLst>
          </p:cNvPr>
          <p:cNvSpPr>
            <a:spLocks noGrp="1"/>
          </p:cNvSpPr>
          <p:nvPr/>
        </p:nvSpPr>
        <p:spPr>
          <a:xfrm>
            <a:off x="638175" y="3657600"/>
            <a:ext cx="22383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active inference</a:t>
            </a:r>
          </a:p>
          <a:p>
            <a:pPr algn="l">
              <a:defRPr sz="2175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requests</a:t>
            </a:r>
          </a:p>
        </p:txBody>
      </p:sp>
      <p:sp>
        <p:nvSpPr>
          <p:cNvPr id="5" name="text-113">
            <a:extLst>
              <a:ext uri="{FF2B5EF4-FFF2-40B4-BE49-F238E27FC236}">
                <a16:creationId xmlns:a16="http://schemas.microsoft.com/office/drawing/2014/main" id="{3588440D-E6CC-475D-893E-912BD201D256}"/>
              </a:ext>
            </a:extLst>
          </p:cNvPr>
          <p:cNvSpPr>
            <a:spLocks noGrp="1"/>
          </p:cNvSpPr>
          <p:nvPr/>
        </p:nvSpPr>
        <p:spPr>
          <a:xfrm>
            <a:off x="647700" y="4838700"/>
            <a:ext cx="2238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0 pending in</a:t>
            </a:r>
          </a:p>
          <a:p>
            <a:pPr algn="l">
              <a:def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this log snapshot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70268" y="1752600"/>
            <a:ext cx="8480339" cy="3448050"/>
          </a:xfrm>
          <a:prstGeom prst="rect">
            <a:avLst/>
          </a:prstGeom>
        </p:spPr>
      </p:pic>
      <p:sp>
        <p:nvSpPr>
          <p:cNvPr id="7" name="text-114">
            <a:extLst>
              <a:ext uri="{FF2B5EF4-FFF2-40B4-BE49-F238E27FC236}">
                <a16:creationId xmlns:a16="http://schemas.microsoft.com/office/drawing/2014/main" id="{0D7309EE-7CCB-4B3A-B87D-6FC91E5A8761}"/>
              </a:ext>
            </a:extLst>
          </p:cNvPr>
          <p:cNvSpPr>
            <a:spLocks noGrp="1"/>
          </p:cNvSpPr>
          <p:nvPr/>
        </p:nvSpPr>
        <p:spPr>
          <a:xfrm>
            <a:off x="3076575" y="5429250"/>
            <a:ext cx="8477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6D9E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6D9E5"/>
                </a:solidFill>
                <a:latin typeface="DejaVu Sans"/>
                <a:ea typeface="DejaVu Sans"/>
                <a:cs typeface="DejaVu Sans"/>
              </a:rPr>
              <a:t>Prometheus: vllm:num_requests_running = 3</a:t>
            </a:r>
          </a:p>
        </p:txBody>
      </p:sp>
      <p:sp>
        <p:nvSpPr>
          <p:cNvPr id="8" name="text-115">
            <a:extLst>
              <a:ext uri="{FF2B5EF4-FFF2-40B4-BE49-F238E27FC236}">
                <a16:creationId xmlns:a16="http://schemas.microsoft.com/office/drawing/2014/main" id="{F91B1188-5C23-410B-93CB-6A43EEB63457}"/>
              </a:ext>
            </a:extLst>
          </p:cNvPr>
          <p:cNvSpPr>
            <a:spLocks noGrp="1"/>
          </p:cNvSpPr>
          <p:nvPr/>
        </p:nvSpPr>
        <p:spPr>
          <a:xfrm>
            <a:off x="647700" y="6096000"/>
            <a:ext cx="108966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Async serving allows overlap while each file keeps its sequential pipeline</a:t>
            </a:r>
          </a:p>
        </p:txBody>
      </p:sp>
    </p:spTree>
    <p:extLst>
      <p:ext uri="{BB962C8B-B14F-4D97-AF65-F5344CB8AC3E}">
        <p14:creationId xmlns:p14="http://schemas.microsoft.com/office/powerpoint/2010/main" val="935730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/>
          <p:cNvCxnSpPr>
            <a:stCxn id="5" idx="3"/>
            <a:endCxn id="6" idx="1"/>
          </p:cNvCxnSpPr>
          <p:nvPr/>
        </p:nvCxnSpPr>
        <p:spPr>
          <a:xfrm>
            <a:off x="7772400" y="3500438"/>
            <a:ext cx="1238250" cy="0"/>
          </a:xfrm>
          <a:prstGeom prst="straightConnector1">
            <a:avLst/>
          </a:prstGeom>
          <a:ln w="19050">
            <a:solidFill>
              <a:srgbClr val="8D9BB3"/>
            </a:solidFill>
            <a:tailEnd type="triangle" w="med" len="med"/>
          </a:ln>
        </p:spPr>
      </p:cxnSp>
      <p:cxnSp>
        <p:nvCxnSpPr>
          <p:cNvPr id="14" name="Connector: Elbow 13"/>
          <p:cNvCxnSpPr>
            <a:stCxn id="4" idx="3"/>
            <a:endCxn id="5" idx="1"/>
          </p:cNvCxnSpPr>
          <p:nvPr/>
        </p:nvCxnSpPr>
        <p:spPr>
          <a:xfrm flipV="1">
            <a:off x="4057650" y="3500438"/>
            <a:ext cx="1143000" cy="1023938"/>
          </a:xfrm>
          <a:prstGeom prst="bentConnector3">
            <a:avLst>
              <a:gd name="adj1" fmla="val 50000"/>
            </a:avLst>
          </a:prstGeom>
          <a:ln w="19050">
            <a:solidFill>
              <a:srgbClr val="B7A1FF"/>
            </a:solidFill>
            <a:tailEnd type="triangle" w="med" len="med"/>
          </a:ln>
        </p:spPr>
      </p:cxnSp>
      <p:cxnSp>
        <p:nvCxnSpPr>
          <p:cNvPr id="15" name="Connector: Elbow 14"/>
          <p:cNvCxnSpPr>
            <a:stCxn id="3" idx="3"/>
            <a:endCxn id="5" idx="1"/>
          </p:cNvCxnSpPr>
          <p:nvPr/>
        </p:nvCxnSpPr>
        <p:spPr>
          <a:xfrm>
            <a:off x="4057650" y="2500313"/>
            <a:ext cx="1143000" cy="1000125"/>
          </a:xfrm>
          <a:prstGeom prst="bentConnector3">
            <a:avLst>
              <a:gd name="adj1" fmla="val 50000"/>
            </a:avLst>
          </a:prstGeom>
          <a:ln w="19050">
            <a:solidFill>
              <a:srgbClr val="66D9E5"/>
            </a:solidFill>
            <a:tailEnd type="triangle" w="med" len="med"/>
          </a:ln>
        </p:spPr>
      </p:cxnSp>
      <p:sp>
        <p:nvSpPr>
          <p:cNvPr id="16" name="title-116">
            <a:extLst>
              <a:ext uri="{FF2B5EF4-FFF2-40B4-BE49-F238E27FC236}">
                <a16:creationId xmlns:a16="http://schemas.microsoft.com/office/drawing/2014/main" id="{8E6D7B11-132B-45A8-B8B6-E880686132B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Observability with Prometheus &amp; Grafana</a:t>
            </a:r>
          </a:p>
        </p:txBody>
      </p:sp>
      <p:sp>
        <p:nvSpPr>
          <p:cNvPr id="2" name="page-117">
            <a:extLst>
              <a:ext uri="{FF2B5EF4-FFF2-40B4-BE49-F238E27FC236}">
                <a16:creationId xmlns:a16="http://schemas.microsoft.com/office/drawing/2014/main" id="{1E4273D8-B257-4C6C-A4BB-469254FF9E7F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lang="ar-SA" sz="1200" b="0" dirty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16</a:t>
            </a:r>
            <a:endParaRPr sz="1200" b="0" dirty="0">
              <a:solidFill>
                <a:srgbClr val="8D9BB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diagram-node-118">
            <a:extLst>
              <a:ext uri="{FF2B5EF4-FFF2-40B4-BE49-F238E27FC236}">
                <a16:creationId xmlns:a16="http://schemas.microsoft.com/office/drawing/2014/main" id="{4BFB255A-1445-450F-8A91-964188AB7357}"/>
              </a:ext>
            </a:extLst>
          </p:cNvPr>
          <p:cNvSpPr>
            <a:spLocks noGrp="1"/>
          </p:cNvSpPr>
          <p:nvPr/>
        </p:nvSpPr>
        <p:spPr>
          <a:xfrm>
            <a:off x="619125" y="1752600"/>
            <a:ext cx="3438525" cy="1495425"/>
          </a:xfrm>
          <a:prstGeom prst="rect">
            <a:avLst/>
          </a:prstGeom>
          <a:solidFill>
            <a:srgbClr val="131E33"/>
          </a:solidFill>
          <a:ln w="14288">
            <a:solidFill>
              <a:srgbClr val="66D9E5"/>
            </a:solidFill>
          </a:ln>
        </p:spPr>
        <p:txBody>
          <a:bodyPr lIns="95250" tIns="114300" rIns="95250" bIns="114300" anchor="ctr">
            <a:noAutofit/>
          </a:bodyPr>
          <a:lstStyle/>
          <a:p>
            <a:pPr algn="ctr">
              <a:defRPr sz="180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APPLICATION</a:t>
            </a:r>
          </a:p>
          <a:p>
            <a:pPr algn="ctr">
              <a:defRPr sz="180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Both model paths</a:t>
            </a:r>
          </a:p>
          <a:p>
            <a:pPr algn="ctr">
              <a:defRPr sz="180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E2E latency, rate, errors</a:t>
            </a:r>
          </a:p>
        </p:txBody>
      </p:sp>
      <p:sp>
        <p:nvSpPr>
          <p:cNvPr id="4" name="diagram-node-119">
            <a:extLst>
              <a:ext uri="{FF2B5EF4-FFF2-40B4-BE49-F238E27FC236}">
                <a16:creationId xmlns:a16="http://schemas.microsoft.com/office/drawing/2014/main" id="{5D9E4DFE-7F37-4FA9-9C60-CF67634A3B45}"/>
              </a:ext>
            </a:extLst>
          </p:cNvPr>
          <p:cNvSpPr>
            <a:spLocks noGrp="1"/>
          </p:cNvSpPr>
          <p:nvPr/>
        </p:nvSpPr>
        <p:spPr>
          <a:xfrm>
            <a:off x="619125" y="3714750"/>
            <a:ext cx="3438525" cy="1619250"/>
          </a:xfrm>
          <a:prstGeom prst="rect">
            <a:avLst/>
          </a:prstGeom>
          <a:solidFill>
            <a:srgbClr val="131E33"/>
          </a:solidFill>
          <a:ln w="14288">
            <a:solidFill>
              <a:srgbClr val="B7A1FF"/>
            </a:solidFill>
          </a:ln>
        </p:spPr>
        <p:txBody>
          <a:bodyPr lIns="95250" tIns="114300" rIns="95250" bIns="114300" anchor="ctr">
            <a:noAutofit/>
          </a:bodyPr>
          <a:lstStyle/>
          <a:p>
            <a:pPr algn="ctr">
              <a:defRPr sz="1725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vLLM ENGINE</a:t>
            </a:r>
          </a:p>
          <a:p>
            <a:pPr algn="ctr">
              <a:defRPr sz="1725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Qwen only</a:t>
            </a:r>
          </a:p>
          <a:p>
            <a:pPr algn="ctr">
              <a:defRPr sz="1725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TTFT, TPOT, queue, active requests</a:t>
            </a:r>
          </a:p>
        </p:txBody>
      </p:sp>
      <p:sp>
        <p:nvSpPr>
          <p:cNvPr id="5" name="diagram-node-120">
            <a:extLst>
              <a:ext uri="{FF2B5EF4-FFF2-40B4-BE49-F238E27FC236}">
                <a16:creationId xmlns:a16="http://schemas.microsoft.com/office/drawing/2014/main" id="{D730A67A-CBBA-4299-8FBA-3FCBC9C264F3}"/>
              </a:ext>
            </a:extLst>
          </p:cNvPr>
          <p:cNvSpPr>
            <a:spLocks noGrp="1"/>
          </p:cNvSpPr>
          <p:nvPr/>
        </p:nvSpPr>
        <p:spPr>
          <a:xfrm>
            <a:off x="5200650" y="2752725"/>
            <a:ext cx="2571750" cy="1495425"/>
          </a:xfrm>
          <a:prstGeom prst="rect">
            <a:avLst/>
          </a:prstGeom>
          <a:solidFill>
            <a:srgbClr val="131E33"/>
          </a:solidFill>
          <a:ln w="14288">
            <a:solidFill>
              <a:srgbClr val="33435E"/>
            </a:solidFill>
          </a:ln>
        </p:spPr>
        <p:txBody>
          <a:bodyPr lIns="95250" tIns="114300" rIns="95250" bIns="114300" anchor="ctr">
            <a:noAutofit/>
          </a:bodyPr>
          <a:lstStyle/>
          <a:p>
            <a:pPr algn="ctr">
              <a:defRPr sz="1875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Prometheus</a:t>
            </a:r>
          </a:p>
          <a:p>
            <a:pPr algn="ctr">
              <a:defRPr sz="1875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/metrics</a:t>
            </a:r>
          </a:p>
          <a:p>
            <a:pPr algn="ctr">
              <a:defRPr sz="1875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15-second scrape</a:t>
            </a:r>
          </a:p>
        </p:txBody>
      </p:sp>
      <p:sp>
        <p:nvSpPr>
          <p:cNvPr id="6" name="diagram-node-121">
            <a:extLst>
              <a:ext uri="{FF2B5EF4-FFF2-40B4-BE49-F238E27FC236}">
                <a16:creationId xmlns:a16="http://schemas.microsoft.com/office/drawing/2014/main" id="{CE0D0386-CFB1-4506-85D0-46958910CCF4}"/>
              </a:ext>
            </a:extLst>
          </p:cNvPr>
          <p:cNvSpPr>
            <a:spLocks noGrp="1"/>
          </p:cNvSpPr>
          <p:nvPr/>
        </p:nvSpPr>
        <p:spPr>
          <a:xfrm>
            <a:off x="9010650" y="2752725"/>
            <a:ext cx="2562225" cy="1495425"/>
          </a:xfrm>
          <a:prstGeom prst="rect">
            <a:avLst/>
          </a:prstGeom>
          <a:solidFill>
            <a:srgbClr val="131E33"/>
          </a:solidFill>
          <a:ln w="14288">
            <a:solidFill>
              <a:srgbClr val="33435E"/>
            </a:solidFill>
          </a:ln>
        </p:spPr>
        <p:txBody>
          <a:bodyPr lIns="95250" tIns="114300" rIns="95250" bIns="114300" anchor="ctr">
            <a:noAutofit/>
          </a:bodyPr>
          <a:lstStyle/>
          <a:p>
            <a:pPr algn="ctr">
              <a:defRPr sz="1875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Grafana</a:t>
            </a:r>
          </a:p>
          <a:p>
            <a:pPr algn="ctr">
              <a:defRPr sz="1875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Latency and load</a:t>
            </a:r>
          </a:p>
          <a:p>
            <a:pPr algn="ctr">
              <a:defRPr sz="1875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Service health</a:t>
            </a:r>
          </a:p>
        </p:txBody>
      </p:sp>
      <p:sp>
        <p:nvSpPr>
          <p:cNvPr id="10" name="text-122">
            <a:extLst>
              <a:ext uri="{FF2B5EF4-FFF2-40B4-BE49-F238E27FC236}">
                <a16:creationId xmlns:a16="http://schemas.microsoft.com/office/drawing/2014/main" id="{DDEBD46C-681C-426F-94A7-045365B4192A}"/>
              </a:ext>
            </a:extLst>
          </p:cNvPr>
          <p:cNvSpPr>
            <a:spLocks noGrp="1"/>
          </p:cNvSpPr>
          <p:nvPr/>
        </p:nvSpPr>
        <p:spPr>
          <a:xfrm>
            <a:off x="619125" y="5753100"/>
            <a:ext cx="109061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CAPTURED QWEN OBSERVATIONS</a:t>
            </a:r>
          </a:p>
        </p:txBody>
      </p:sp>
      <p:sp>
        <p:nvSpPr>
          <p:cNvPr id="11" name="text-123">
            <a:extLst>
              <a:ext uri="{FF2B5EF4-FFF2-40B4-BE49-F238E27FC236}">
                <a16:creationId xmlns:a16="http://schemas.microsoft.com/office/drawing/2014/main" id="{1D2ED92D-36DA-497B-8A2A-C45D5D4BCD51}"/>
              </a:ext>
            </a:extLst>
          </p:cNvPr>
          <p:cNvSpPr>
            <a:spLocks noGrp="1"/>
          </p:cNvSpPr>
          <p:nvPr/>
        </p:nvSpPr>
        <p:spPr>
          <a:xfrm>
            <a:off x="619125" y="6153150"/>
            <a:ext cx="5381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TPOT p95 ≈ 61.9 ms/token</a:t>
            </a:r>
          </a:p>
        </p:txBody>
      </p:sp>
      <p:sp>
        <p:nvSpPr>
          <p:cNvPr id="12" name="text-124">
            <a:extLst>
              <a:ext uri="{FF2B5EF4-FFF2-40B4-BE49-F238E27FC236}">
                <a16:creationId xmlns:a16="http://schemas.microsoft.com/office/drawing/2014/main" id="{7367B3B3-F9D4-4466-A803-433B4B4179EE}"/>
              </a:ext>
            </a:extLst>
          </p:cNvPr>
          <p:cNvSpPr>
            <a:spLocks noGrp="1"/>
          </p:cNvSpPr>
          <p:nvPr/>
        </p:nvSpPr>
        <p:spPr>
          <a:xfrm>
            <a:off x="6515100" y="6153150"/>
            <a:ext cx="5048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Queue time p95 ≈ 60 s</a:t>
            </a:r>
          </a:p>
        </p:txBody>
      </p:sp>
    </p:spTree>
    <p:extLst>
      <p:ext uri="{BB962C8B-B14F-4D97-AF65-F5344CB8AC3E}">
        <p14:creationId xmlns:p14="http://schemas.microsoft.com/office/powerpoint/2010/main" val="1168293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-125">
            <a:extLst>
              <a:ext uri="{FF2B5EF4-FFF2-40B4-BE49-F238E27FC236}">
                <a16:creationId xmlns:a16="http://schemas.microsoft.com/office/drawing/2014/main" id="{2FC9EBDC-E215-442F-B059-A6722EA1A29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SLIs &amp; proposed SLOs</a:t>
            </a:r>
          </a:p>
        </p:txBody>
      </p:sp>
      <p:sp>
        <p:nvSpPr>
          <p:cNvPr id="2" name="text-126">
            <a:extLst>
              <a:ext uri="{FF2B5EF4-FFF2-40B4-BE49-F238E27FC236}">
                <a16:creationId xmlns:a16="http://schemas.microsoft.com/office/drawing/2014/main" id="{1C8B4B7C-D6CB-43D4-9C9D-BFAF15BD3FEF}"/>
              </a:ext>
            </a:extLst>
          </p:cNvPr>
          <p:cNvSpPr>
            <a:spLocks noGrp="1"/>
          </p:cNvSpPr>
          <p:nvPr/>
        </p:nvSpPr>
        <p:spPr>
          <a:xfrm>
            <a:off x="628650" y="1143000"/>
            <a:ext cx="109156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Measured service behavior against provisional capstone targets</a:t>
            </a:r>
          </a:p>
        </p:txBody>
      </p:sp>
      <p:sp>
        <p:nvSpPr>
          <p:cNvPr id="3" name="page-127">
            <a:extLst>
              <a:ext uri="{FF2B5EF4-FFF2-40B4-BE49-F238E27FC236}">
                <a16:creationId xmlns:a16="http://schemas.microsoft.com/office/drawing/2014/main" id="{F1CEE3A8-6B44-4173-B26B-C52A7A747BA9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lang="ar-SA" sz="1200" b="0" dirty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17</a:t>
            </a:r>
            <a:endParaRPr sz="1200" b="0" dirty="0">
              <a:solidFill>
                <a:srgbClr val="8D9BB3"/>
              </a:solidFill>
              <a:latin typeface="DejaVu Sans"/>
              <a:ea typeface="DejaVu Sans"/>
              <a:cs typeface="DejaVu Sans"/>
            </a:endParaRPr>
          </a:p>
        </p:txBody>
      </p:sp>
      <p:graphicFrame>
        <p:nvGraphicFramePr>
          <p:cNvPr id="9" name="Table 8"/>
          <p:cNvGraphicFramePr/>
          <p:nvPr/>
        </p:nvGraphicFramePr>
        <p:xfrm>
          <a:off x="619125" y="1809750"/>
          <a:ext cx="10953750" cy="4338005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1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6913"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F5F7F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Service indicator</a:t>
                      </a:r>
                    </a:p>
                  </a:txBody>
                  <a:tcPr anchor="ctr"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5F7F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Target</a:t>
                      </a:r>
                    </a:p>
                  </a:txBody>
                  <a:tcPr anchor="ctr"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5F7F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Observed evidence</a:t>
                      </a:r>
                    </a:p>
                  </a:txBody>
                  <a:tcPr anchor="ctr">
                    <a:solidFill>
                      <a:srgbClr val="21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5F7F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Assessment</a:t>
                      </a:r>
                    </a:p>
                  </a:txBody>
                  <a:tcPr anchor="ctr">
                    <a:solidFill>
                      <a:srgbClr val="21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913"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Scrape availability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≥ 99%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 dirty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Observed readings: 88–100%. Recorded 1-hour value: 94.2%.</a:t>
                      </a:r>
                      <a:endParaRPr sz="1650" b="0" dirty="0">
                        <a:solidFill>
                          <a:srgbClr val="BFCADC"/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Not met in observed 1-hour</a:t>
                      </a:r>
                      <a:r>
                        <a:rPr lang="ar-SA" sz="1400" b="1" i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lang="en-US" sz="1400" b="1" i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window</a:t>
                      </a:r>
                      <a:endParaRPr lang="ar-SA" sz="1400" b="1" i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  <a:p>
                      <a:r>
                        <a:rPr lang="en-US" sz="1100" b="1" i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Affected by restart/deployment activity</a:t>
                      </a:r>
                      <a:endParaRPr lang="en-US" sz="1650" b="1" i="1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DejaVu Sans"/>
                        <a:ea typeface="DejaVu Sans"/>
                        <a:cs typeface="DejaVu Sans"/>
                      </a:endParaRP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9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E2E latency p95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≤ 180 s</a:t>
                      </a:r>
                    </a:p>
                    <a:p>
                      <a:r>
                        <a:rPr sz="1650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 model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Approached ≈ 180 s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F4CF8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More evidence</a:t>
                      </a:r>
                    </a:p>
                    <a:p>
                      <a:r>
                        <a:rPr sz="1650" b="1" dirty="0">
                          <a:solidFill>
                            <a:srgbClr val="F4CF8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needed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9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Successful throughput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≥ 50 files/hour</a:t>
                      </a:r>
                    </a:p>
                    <a:p>
                      <a:r>
                        <a:rPr sz="1650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 model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Qwen 89, GPT 100</a:t>
                      </a:r>
                    </a:p>
                    <a:p>
                      <a:r>
                        <a:rPr sz="1650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files/hour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8FDFB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 in test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9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Request error rate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≤ 1%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0/9 failures</a:t>
                      </a:r>
                    </a:p>
                    <a:p>
                      <a:r>
                        <a:rPr sz="1650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 model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8FDFB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 in test</a:t>
                      </a:r>
                    </a:p>
                    <a:p>
                      <a:r>
                        <a:rPr sz="1650" b="1">
                          <a:solidFill>
                            <a:srgbClr val="8FDFB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Small sample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69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Qwen concurrency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≥ 3 active</a:t>
                      </a:r>
                    </a:p>
                    <a:p>
                      <a:r>
                        <a:rPr sz="1650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without failure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BFCA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active, 9/9 success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8FDFB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Demonstrated</a:t>
                      </a:r>
                    </a:p>
                  </a:txBody>
                  <a:tcPr anchor="ctr">
                    <a:solidFill>
                      <a:srgbClr val="0B1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-128">
            <a:extLst>
              <a:ext uri="{FF2B5EF4-FFF2-40B4-BE49-F238E27FC236}">
                <a16:creationId xmlns:a16="http://schemas.microsoft.com/office/drawing/2014/main" id="{0AEB637F-E2B8-4792-AF36-EC8F2A1DCEE3}"/>
              </a:ext>
            </a:extLst>
          </p:cNvPr>
          <p:cNvSpPr>
            <a:spLocks noGrp="1"/>
          </p:cNvSpPr>
          <p:nvPr/>
        </p:nvSpPr>
        <p:spPr>
          <a:xfrm>
            <a:off x="628650" y="6191250"/>
            <a:ext cx="10334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Availability uses scrape reachability. Short test windows limit service-level conclusions.</a:t>
            </a:r>
          </a:p>
        </p:txBody>
      </p:sp>
    </p:spTree>
    <p:extLst>
      <p:ext uri="{BB962C8B-B14F-4D97-AF65-F5344CB8AC3E}">
        <p14:creationId xmlns:p14="http://schemas.microsoft.com/office/powerpoint/2010/main" val="860155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D505FB4-91E0-9052-1DA8-83EA165644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2233" y="87382"/>
            <a:ext cx="4541837" cy="66832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itle-129">
            <a:extLst>
              <a:ext uri="{FF2B5EF4-FFF2-40B4-BE49-F238E27FC236}">
                <a16:creationId xmlns:a16="http://schemas.microsoft.com/office/drawing/2014/main" id="{E6B9E82A-C1C8-431B-9A44-9B61C908660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Live demo</a:t>
            </a:r>
            <a:r>
              <a:rPr lang="en-US" sz="3300" b="1" dirty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 - </a:t>
            </a:r>
            <a:r>
              <a:rPr lang="en-US" sz="3300" b="1" dirty="0" err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Streamlit</a:t>
            </a:r>
            <a:endParaRPr sz="3300" b="1" dirty="0">
              <a:solidFill>
                <a:srgbClr val="F5F7FD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text-130">
            <a:extLst>
              <a:ext uri="{FF2B5EF4-FFF2-40B4-BE49-F238E27FC236}">
                <a16:creationId xmlns:a16="http://schemas.microsoft.com/office/drawing/2014/main" id="{662C20A5-F56D-43AB-B71E-017004E126FA}"/>
              </a:ext>
            </a:extLst>
          </p:cNvPr>
          <p:cNvSpPr>
            <a:spLocks noGrp="1"/>
          </p:cNvSpPr>
          <p:nvPr/>
        </p:nvSpPr>
        <p:spPr>
          <a:xfrm>
            <a:off x="628650" y="1143000"/>
            <a:ext cx="109156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Streamlit for content review, Grafana for service behavior</a:t>
            </a:r>
          </a:p>
        </p:txBody>
      </p:sp>
      <p:sp>
        <p:nvSpPr>
          <p:cNvPr id="3" name="page-131">
            <a:extLst>
              <a:ext uri="{FF2B5EF4-FFF2-40B4-BE49-F238E27FC236}">
                <a16:creationId xmlns:a16="http://schemas.microsoft.com/office/drawing/2014/main" id="{9710E4F4-8072-4633-A9C8-336801517D20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lang="ar-SA" sz="1200" b="0" dirty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18</a:t>
            </a:r>
            <a:endParaRPr sz="1200" b="0" dirty="0">
              <a:solidFill>
                <a:srgbClr val="8D9BB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text-132">
            <a:extLst>
              <a:ext uri="{FF2B5EF4-FFF2-40B4-BE49-F238E27FC236}">
                <a16:creationId xmlns:a16="http://schemas.microsoft.com/office/drawing/2014/main" id="{FB9F8A21-0560-4A9E-8F37-A6EA3D1F9082}"/>
              </a:ext>
            </a:extLst>
          </p:cNvPr>
          <p:cNvSpPr>
            <a:spLocks noGrp="1"/>
          </p:cNvSpPr>
          <p:nvPr/>
        </p:nvSpPr>
        <p:spPr>
          <a:xfrm>
            <a:off x="619125" y="1962150"/>
            <a:ext cx="6572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66D9E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D9E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text-133">
            <a:extLst>
              <a:ext uri="{FF2B5EF4-FFF2-40B4-BE49-F238E27FC236}">
                <a16:creationId xmlns:a16="http://schemas.microsoft.com/office/drawing/2014/main" id="{7E0677EC-C0AB-4CEE-919D-F55A97521E21}"/>
              </a:ext>
            </a:extLst>
          </p:cNvPr>
          <p:cNvSpPr>
            <a:spLocks noGrp="1"/>
          </p:cNvSpPr>
          <p:nvPr/>
        </p:nvSpPr>
        <p:spPr>
          <a:xfrm>
            <a:off x="1428750" y="1943100"/>
            <a:ext cx="40481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Upload a learning file</a:t>
            </a:r>
          </a:p>
        </p:txBody>
      </p:sp>
      <p:sp>
        <p:nvSpPr>
          <p:cNvPr id="6" name="text-134">
            <a:extLst>
              <a:ext uri="{FF2B5EF4-FFF2-40B4-BE49-F238E27FC236}">
                <a16:creationId xmlns:a16="http://schemas.microsoft.com/office/drawing/2014/main" id="{C66A3147-9DF5-4101-A3EC-01CCF79F062E}"/>
              </a:ext>
            </a:extLst>
          </p:cNvPr>
          <p:cNvSpPr>
            <a:spLocks noGrp="1"/>
          </p:cNvSpPr>
          <p:nvPr/>
        </p:nvSpPr>
        <p:spPr>
          <a:xfrm>
            <a:off x="619125" y="2914650"/>
            <a:ext cx="6572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7A1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B7A1F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text-135">
            <a:extLst>
              <a:ext uri="{FF2B5EF4-FFF2-40B4-BE49-F238E27FC236}">
                <a16:creationId xmlns:a16="http://schemas.microsoft.com/office/drawing/2014/main" id="{A6083E92-0E3F-40AA-94E0-81E4B15F5905}"/>
              </a:ext>
            </a:extLst>
          </p:cNvPr>
          <p:cNvSpPr>
            <a:spLocks noGrp="1"/>
          </p:cNvSpPr>
          <p:nvPr/>
        </p:nvSpPr>
        <p:spPr>
          <a:xfrm>
            <a:off x="1428750" y="2895600"/>
            <a:ext cx="40481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Select Qwen or GPT-4o-mini</a:t>
            </a:r>
          </a:p>
        </p:txBody>
      </p:sp>
      <p:sp>
        <p:nvSpPr>
          <p:cNvPr id="8" name="text-136">
            <a:extLst>
              <a:ext uri="{FF2B5EF4-FFF2-40B4-BE49-F238E27FC236}">
                <a16:creationId xmlns:a16="http://schemas.microsoft.com/office/drawing/2014/main" id="{C21953FD-DD79-4781-AC85-C54ECB9A0272}"/>
              </a:ext>
            </a:extLst>
          </p:cNvPr>
          <p:cNvSpPr>
            <a:spLocks noGrp="1"/>
          </p:cNvSpPr>
          <p:nvPr/>
        </p:nvSpPr>
        <p:spPr>
          <a:xfrm>
            <a:off x="619125" y="3867150"/>
            <a:ext cx="6572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66D9E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D9E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9" name="text-137">
            <a:extLst>
              <a:ext uri="{FF2B5EF4-FFF2-40B4-BE49-F238E27FC236}">
                <a16:creationId xmlns:a16="http://schemas.microsoft.com/office/drawing/2014/main" id="{E2E728EA-4F4D-4845-94AE-7C004C0E7E80}"/>
              </a:ext>
            </a:extLst>
          </p:cNvPr>
          <p:cNvSpPr>
            <a:spLocks noGrp="1"/>
          </p:cNvSpPr>
          <p:nvPr/>
        </p:nvSpPr>
        <p:spPr>
          <a:xfrm>
            <a:off x="1428750" y="3848100"/>
            <a:ext cx="40481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Review tags, difficulty and skills</a:t>
            </a:r>
          </a:p>
        </p:txBody>
      </p:sp>
      <p:sp>
        <p:nvSpPr>
          <p:cNvPr id="10" name="text-138">
            <a:extLst>
              <a:ext uri="{FF2B5EF4-FFF2-40B4-BE49-F238E27FC236}">
                <a16:creationId xmlns:a16="http://schemas.microsoft.com/office/drawing/2014/main" id="{AFB32A28-623D-49A5-B061-D2B242DAFAAB}"/>
              </a:ext>
            </a:extLst>
          </p:cNvPr>
          <p:cNvSpPr>
            <a:spLocks noGrp="1"/>
          </p:cNvSpPr>
          <p:nvPr/>
        </p:nvSpPr>
        <p:spPr>
          <a:xfrm>
            <a:off x="619125" y="4819650"/>
            <a:ext cx="6572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7A1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B7A1F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1" name="text-139">
            <a:extLst>
              <a:ext uri="{FF2B5EF4-FFF2-40B4-BE49-F238E27FC236}">
                <a16:creationId xmlns:a16="http://schemas.microsoft.com/office/drawing/2014/main" id="{0B3AB1A2-2E21-409D-96F3-754DA17539C7}"/>
              </a:ext>
            </a:extLst>
          </p:cNvPr>
          <p:cNvSpPr>
            <a:spLocks noGrp="1"/>
          </p:cNvSpPr>
          <p:nvPr/>
        </p:nvSpPr>
        <p:spPr>
          <a:xfrm>
            <a:off x="1428750" y="4800600"/>
            <a:ext cx="40481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Watch Grafana during load</a:t>
            </a:r>
          </a:p>
        </p:txBody>
      </p:sp>
    </p:spTree>
    <p:extLst>
      <p:ext uri="{BB962C8B-B14F-4D97-AF65-F5344CB8AC3E}">
        <p14:creationId xmlns:p14="http://schemas.microsoft.com/office/powerpoint/2010/main" val="748868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2220-A69F-E32E-C0B1-B3C84734B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-129">
            <a:extLst>
              <a:ext uri="{FF2B5EF4-FFF2-40B4-BE49-F238E27FC236}">
                <a16:creationId xmlns:a16="http://schemas.microsoft.com/office/drawing/2014/main" id="{2D6450EC-C0F8-C0D0-802F-8698A08239A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Live demo</a:t>
            </a:r>
            <a:r>
              <a:rPr lang="ar-SA" sz="3300" b="1" dirty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 - </a:t>
            </a:r>
            <a:r>
              <a:rPr lang="en-US" sz="3300" b="1" dirty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Grafana</a:t>
            </a:r>
            <a:endParaRPr sz="3300" b="1" dirty="0">
              <a:solidFill>
                <a:srgbClr val="F5F7FD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text-130">
            <a:extLst>
              <a:ext uri="{FF2B5EF4-FFF2-40B4-BE49-F238E27FC236}">
                <a16:creationId xmlns:a16="http://schemas.microsoft.com/office/drawing/2014/main" id="{5751E8A5-B971-5075-2B5B-4B114C42E6C5}"/>
              </a:ext>
            </a:extLst>
          </p:cNvPr>
          <p:cNvSpPr>
            <a:spLocks noGrp="1"/>
          </p:cNvSpPr>
          <p:nvPr/>
        </p:nvSpPr>
        <p:spPr>
          <a:xfrm>
            <a:off x="628650" y="1143000"/>
            <a:ext cx="109156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Streamlit for content review, Grafana for service behavior</a:t>
            </a:r>
          </a:p>
        </p:txBody>
      </p:sp>
      <p:sp>
        <p:nvSpPr>
          <p:cNvPr id="3" name="page-131">
            <a:extLst>
              <a:ext uri="{FF2B5EF4-FFF2-40B4-BE49-F238E27FC236}">
                <a16:creationId xmlns:a16="http://schemas.microsoft.com/office/drawing/2014/main" id="{F65B24EE-CB1C-6E67-FF2C-440C7632D066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lang="ar-SA" sz="1200" b="0" dirty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19</a:t>
            </a:r>
            <a:endParaRPr sz="1200" b="0" dirty="0">
              <a:solidFill>
                <a:srgbClr val="8D9BB3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C53B0D-FBC0-D511-87A3-DCAD4E4C6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20" y="1518552"/>
            <a:ext cx="9028080" cy="49012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36006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142">
            <a:extLst>
              <a:ext uri="{FF2B5EF4-FFF2-40B4-BE49-F238E27FC236}">
                <a16:creationId xmlns:a16="http://schemas.microsoft.com/office/drawing/2014/main" id="{4FB52175-106E-443D-8732-EEBA219D309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Key findings &amp; next steps</a:t>
            </a:r>
          </a:p>
        </p:txBody>
      </p:sp>
      <p:sp>
        <p:nvSpPr>
          <p:cNvPr id="2" name="page-143">
            <a:extLst>
              <a:ext uri="{FF2B5EF4-FFF2-40B4-BE49-F238E27FC236}">
                <a16:creationId xmlns:a16="http://schemas.microsoft.com/office/drawing/2014/main" id="{D06D47A6-1312-474B-A87B-84649440D1C6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lang="ar-SA" sz="1200" b="0" dirty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20</a:t>
            </a:r>
            <a:endParaRPr sz="1200" b="0" dirty="0">
              <a:solidFill>
                <a:srgbClr val="8D9BB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text-144">
            <a:extLst>
              <a:ext uri="{FF2B5EF4-FFF2-40B4-BE49-F238E27FC236}">
                <a16:creationId xmlns:a16="http://schemas.microsoft.com/office/drawing/2014/main" id="{C555D0BE-34BC-45BC-9420-DCCAF557DEBF}"/>
              </a:ext>
            </a:extLst>
          </p:cNvPr>
          <p:cNvSpPr>
            <a:spLocks noGrp="1"/>
          </p:cNvSpPr>
          <p:nvPr/>
        </p:nvSpPr>
        <p:spPr>
          <a:xfrm>
            <a:off x="628650" y="1714500"/>
            <a:ext cx="50006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7A1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B7A1FF"/>
                </a:solidFill>
                <a:latin typeface="DejaVu Sans"/>
                <a:ea typeface="DejaVu Sans"/>
                <a:cs typeface="DejaVu Sans"/>
              </a:rPr>
              <a:t>QWEN</a:t>
            </a:r>
          </a:p>
        </p:txBody>
      </p:sp>
      <p:sp>
        <p:nvSpPr>
          <p:cNvPr id="4" name="text-145">
            <a:extLst>
              <a:ext uri="{FF2B5EF4-FFF2-40B4-BE49-F238E27FC236}">
                <a16:creationId xmlns:a16="http://schemas.microsoft.com/office/drawing/2014/main" id="{C114E1DB-29F3-4606-AD7E-471DA774716F}"/>
              </a:ext>
            </a:extLst>
          </p:cNvPr>
          <p:cNvSpPr>
            <a:spLocks noGrp="1"/>
          </p:cNvSpPr>
          <p:nvPr/>
        </p:nvSpPr>
        <p:spPr>
          <a:xfrm>
            <a:off x="638175" y="2333625"/>
            <a:ext cx="5010150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200"/>
              </a:spcAft>
              <a:buChar char="•"/>
              <a:defRPr sz="20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t>Stronger skills mapping</a:t>
            </a:r>
          </a:p>
          <a:p>
            <a:pPr marL="228600" indent="-114300" algn="l">
              <a:spcAft>
                <a:spcPts val="1200"/>
              </a:spcAft>
              <a:buChar char="•"/>
              <a:defRPr sz="20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t>Lower sequential E2E latency</a:t>
            </a:r>
          </a:p>
          <a:p>
            <a:pPr marL="228600" indent="-114300" algn="l">
              <a:spcAft>
                <a:spcPts val="1200"/>
              </a:spcAft>
              <a:buChar char="•"/>
              <a:defRPr sz="20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t>GPU ownership and engine visibility</a:t>
            </a:r>
          </a:p>
        </p:txBody>
      </p:sp>
      <p:sp>
        <p:nvSpPr>
          <p:cNvPr id="5" name="text-146">
            <a:extLst>
              <a:ext uri="{FF2B5EF4-FFF2-40B4-BE49-F238E27FC236}">
                <a16:creationId xmlns:a16="http://schemas.microsoft.com/office/drawing/2014/main" id="{F9726169-F62D-46D8-BA5A-BA741E51F54D}"/>
              </a:ext>
            </a:extLst>
          </p:cNvPr>
          <p:cNvSpPr>
            <a:spLocks noGrp="1"/>
          </p:cNvSpPr>
          <p:nvPr/>
        </p:nvSpPr>
        <p:spPr>
          <a:xfrm>
            <a:off x="6534150" y="1714500"/>
            <a:ext cx="50292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66D9E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D9E5"/>
                </a:solidFill>
                <a:latin typeface="DejaVu Sans"/>
                <a:ea typeface="DejaVu Sans"/>
                <a:cs typeface="DejaVu Sans"/>
              </a:rPr>
              <a:t>GPT-4o-mini</a:t>
            </a:r>
          </a:p>
        </p:txBody>
      </p:sp>
      <p:sp>
        <p:nvSpPr>
          <p:cNvPr id="6" name="text-147">
            <a:extLst>
              <a:ext uri="{FF2B5EF4-FFF2-40B4-BE49-F238E27FC236}">
                <a16:creationId xmlns:a16="http://schemas.microsoft.com/office/drawing/2014/main" id="{37BB60C6-B118-4205-A24E-D8D875147958}"/>
              </a:ext>
            </a:extLst>
          </p:cNvPr>
          <p:cNvSpPr>
            <a:spLocks noGrp="1"/>
          </p:cNvSpPr>
          <p:nvPr/>
        </p:nvSpPr>
        <p:spPr>
          <a:xfrm>
            <a:off x="6543675" y="2333625"/>
            <a:ext cx="5010150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200"/>
              </a:spcAft>
              <a:buChar char="•"/>
              <a:defRPr sz="20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t>Stronger tagging and difficulty</a:t>
            </a:r>
          </a:p>
          <a:p>
            <a:pPr marL="228600" indent="-114300" algn="l">
              <a:spcAft>
                <a:spcPts val="1200"/>
              </a:spcAft>
              <a:buChar char="•"/>
              <a:defRPr sz="20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t>Higher concurrent throughput</a:t>
            </a:r>
          </a:p>
          <a:p>
            <a:pPr marL="228600" indent="-114300" algn="l">
              <a:spcAft>
                <a:spcPts val="1200"/>
              </a:spcAft>
              <a:buChar char="•"/>
              <a:defRPr sz="2025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t>External API dependency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68431449-FC19-493C-8593-80858926C406}"/>
              </a:ext>
            </a:extLst>
          </p:cNvPr>
          <p:cNvSpPr>
            <a:spLocks noGrp="1"/>
          </p:cNvSpPr>
          <p:nvPr/>
        </p:nvSpPr>
        <p:spPr>
          <a:xfrm>
            <a:off x="628650" y="4514850"/>
            <a:ext cx="10934700" cy="0"/>
          </a:xfrm>
          <a:prstGeom prst="line">
            <a:avLst/>
          </a:prstGeom>
          <a:noFill/>
          <a:ln w="9525">
            <a:solidFill>
              <a:srgbClr val="33435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148">
            <a:extLst>
              <a:ext uri="{FF2B5EF4-FFF2-40B4-BE49-F238E27FC236}">
                <a16:creationId xmlns:a16="http://schemas.microsoft.com/office/drawing/2014/main" id="{28849D4B-1EF5-457E-AABB-058CC30F02B4}"/>
              </a:ext>
            </a:extLst>
          </p:cNvPr>
          <p:cNvSpPr>
            <a:spLocks noGrp="1"/>
          </p:cNvSpPr>
          <p:nvPr/>
        </p:nvSpPr>
        <p:spPr>
          <a:xfrm>
            <a:off x="638175" y="4829175"/>
            <a:ext cx="1676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B7A1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B7A1FF"/>
                </a:solidFill>
                <a:latin typeface="DejaVu Sans"/>
                <a:ea typeface="DejaVu Sans"/>
                <a:cs typeface="DejaVu Sans"/>
              </a:rPr>
              <a:t>LESSONS</a:t>
            </a:r>
          </a:p>
        </p:txBody>
      </p:sp>
      <p:sp>
        <p:nvSpPr>
          <p:cNvPr id="9" name="text-149">
            <a:extLst>
              <a:ext uri="{FF2B5EF4-FFF2-40B4-BE49-F238E27FC236}">
                <a16:creationId xmlns:a16="http://schemas.microsoft.com/office/drawing/2014/main" id="{43F05618-A73C-446E-87A2-587E743C3F82}"/>
              </a:ext>
            </a:extLst>
          </p:cNvPr>
          <p:cNvSpPr>
            <a:spLocks noGrp="1"/>
          </p:cNvSpPr>
          <p:nvPr/>
        </p:nvSpPr>
        <p:spPr>
          <a:xfrm>
            <a:off x="2543175" y="4772025"/>
            <a:ext cx="89058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5F7FD"/>
                </a:solidFill>
                <a:latin typeface="DejaVu Sans"/>
                <a:ea typeface="DejaVu Sans"/>
                <a:cs typeface="DejaVu Sans"/>
              </a:rPr>
              <a:t>Async serving enables overlap. E2E and engine latency answer different questions.</a:t>
            </a:r>
          </a:p>
        </p:txBody>
      </p:sp>
      <p:sp>
        <p:nvSpPr>
          <p:cNvPr id="10" name="text-150">
            <a:extLst>
              <a:ext uri="{FF2B5EF4-FFF2-40B4-BE49-F238E27FC236}">
                <a16:creationId xmlns:a16="http://schemas.microsoft.com/office/drawing/2014/main" id="{00657F1D-D308-4928-B0BF-1F698EAACC7C}"/>
              </a:ext>
            </a:extLst>
          </p:cNvPr>
          <p:cNvSpPr>
            <a:spLocks noGrp="1"/>
          </p:cNvSpPr>
          <p:nvPr/>
        </p:nvSpPr>
        <p:spPr>
          <a:xfrm>
            <a:off x="638175" y="5724525"/>
            <a:ext cx="1857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66D9E5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66D9E5"/>
                </a:solidFill>
                <a:latin typeface="DejaVu Sans"/>
                <a:ea typeface="DejaVu Sans"/>
                <a:cs typeface="DejaVu Sans"/>
              </a:rPr>
              <a:t>PROPOSED NEXT</a:t>
            </a:r>
          </a:p>
        </p:txBody>
      </p:sp>
      <p:sp>
        <p:nvSpPr>
          <p:cNvPr id="11" name="text-151">
            <a:extLst>
              <a:ext uri="{FF2B5EF4-FFF2-40B4-BE49-F238E27FC236}">
                <a16:creationId xmlns:a16="http://schemas.microsoft.com/office/drawing/2014/main" id="{AEE201A1-032F-43F6-83F9-C6493334C67D}"/>
              </a:ext>
            </a:extLst>
          </p:cNvPr>
          <p:cNvSpPr>
            <a:spLocks noGrp="1"/>
          </p:cNvSpPr>
          <p:nvPr/>
        </p:nvSpPr>
        <p:spPr>
          <a:xfrm>
            <a:off x="2543175" y="5648325"/>
            <a:ext cx="890587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BFCAD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FCADC"/>
                </a:solidFill>
                <a:latin typeface="DejaVu Sans"/>
                <a:ea typeface="DejaVu Sans"/>
                <a:cs typeface="DejaVu Sans"/>
              </a:rPr>
              <a:t>Larger load tests, cost validation, routing and scaling experiments</a:t>
            </a:r>
          </a:p>
        </p:txBody>
      </p:sp>
    </p:spTree>
    <p:extLst>
      <p:ext uri="{BB962C8B-B14F-4D97-AF65-F5344CB8AC3E}">
        <p14:creationId xmlns:p14="http://schemas.microsoft.com/office/powerpoint/2010/main" val="1986467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BF561-3378-0786-D0BB-DC3863470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142">
            <a:extLst>
              <a:ext uri="{FF2B5EF4-FFF2-40B4-BE49-F238E27FC236}">
                <a16:creationId xmlns:a16="http://schemas.microsoft.com/office/drawing/2014/main" id="{2FA16DB8-4116-AD77-500D-3A7D4C04418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300" b="1" dirty="0">
                <a:solidFill>
                  <a:srgbClr val="F5F7FD"/>
                </a:solidFill>
                <a:latin typeface="DejaVu Sans"/>
              </a:rPr>
              <a:t>Conclusion</a:t>
            </a:r>
            <a:endParaRPr sz="3300" b="1" dirty="0">
              <a:solidFill>
                <a:srgbClr val="F5F7FD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page-143">
            <a:extLst>
              <a:ext uri="{FF2B5EF4-FFF2-40B4-BE49-F238E27FC236}">
                <a16:creationId xmlns:a16="http://schemas.microsoft.com/office/drawing/2014/main" id="{B6088DA2-4493-D5A0-C434-DA3534F1548D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D9BB3"/>
                </a:solidFill>
                <a:latin typeface="DejaVu Sans"/>
                <a:ea typeface="DejaVu Sans"/>
                <a:cs typeface="DejaVu Sans"/>
              </a:defRPr>
            </a:pPr>
            <a:r>
              <a:rPr lang="ar-SA" sz="1200" b="0" dirty="0">
                <a:solidFill>
                  <a:srgbClr val="8D9BB3"/>
                </a:solidFill>
                <a:latin typeface="DejaVu Sans"/>
                <a:ea typeface="DejaVu Sans"/>
                <a:cs typeface="DejaVu Sans"/>
              </a:rPr>
              <a:t>20</a:t>
            </a:r>
            <a:endParaRPr sz="1200" b="0" dirty="0">
              <a:solidFill>
                <a:srgbClr val="8D9BB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text-149">
            <a:extLst>
              <a:ext uri="{FF2B5EF4-FFF2-40B4-BE49-F238E27FC236}">
                <a16:creationId xmlns:a16="http://schemas.microsoft.com/office/drawing/2014/main" id="{0F80E540-9AEC-35B0-2FBF-89A5705D4606}"/>
              </a:ext>
            </a:extLst>
          </p:cNvPr>
          <p:cNvSpPr>
            <a:spLocks noGrp="1"/>
          </p:cNvSpPr>
          <p:nvPr/>
        </p:nvSpPr>
        <p:spPr>
          <a:xfrm>
            <a:off x="628650" y="1277352"/>
            <a:ext cx="89058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F5F7FD"/>
                </a:solidFill>
                <a:latin typeface="DejaVu Sans"/>
                <a:ea typeface="DejaVu Sans"/>
                <a:cs typeface="DejaVu Sans"/>
              </a:defRPr>
            </a:pPr>
            <a:r>
              <a:rPr lang="en-US" dirty="0">
                <a:solidFill>
                  <a:schemeClr val="accent1">
                    <a:lumMod val="90000"/>
                  </a:schemeClr>
                </a:solidFill>
                <a:latin typeface="DejaVu Sans"/>
              </a:rPr>
              <a:t>CTCM demonstrates an end-to-end AI infrastructure pipeline for automated content tagging and competency mapping.</a:t>
            </a:r>
            <a:endParaRPr sz="1800" b="0" dirty="0">
              <a:solidFill>
                <a:schemeClr val="accent1">
                  <a:lumMod val="90000"/>
                </a:schemeClr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6" name="text-149">
            <a:extLst>
              <a:ext uri="{FF2B5EF4-FFF2-40B4-BE49-F238E27FC236}">
                <a16:creationId xmlns:a16="http://schemas.microsoft.com/office/drawing/2014/main" id="{04EC5168-AB08-4CC0-ADCE-A04D6ADD9C51}"/>
              </a:ext>
            </a:extLst>
          </p:cNvPr>
          <p:cNvSpPr>
            <a:spLocks noGrp="1"/>
          </p:cNvSpPr>
          <p:nvPr/>
        </p:nvSpPr>
        <p:spPr>
          <a:xfrm>
            <a:off x="985587" y="1994739"/>
            <a:ext cx="8905875" cy="39608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Successfully integrated </a:t>
            </a:r>
            <a:r>
              <a:rPr lang="en-US" b="1" dirty="0"/>
              <a:t>multimodal extraction, RAG, local GPU inference, and cloud API inference</a:t>
            </a:r>
            <a:r>
              <a:rPr lang="en-US" dirty="0"/>
              <a:t> in one service.</a:t>
            </a:r>
            <a:endParaRPr lang="ar-SA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Both Qwen and GPT-4o-mini produced </a:t>
            </a:r>
            <a:r>
              <a:rPr lang="en-US" b="1" dirty="0"/>
              <a:t>100% structurally valid outputs</a:t>
            </a:r>
            <a:r>
              <a:rPr lang="en-US" dirty="0"/>
              <a:t> across the benchmark. 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GPT-4o-mini</a:t>
            </a:r>
            <a:r>
              <a:rPr lang="en-US" dirty="0"/>
              <a:t> showed stronger tagging and difficulty classification, while </a:t>
            </a:r>
            <a:r>
              <a:rPr lang="en-US" b="1" dirty="0"/>
              <a:t>Qwen</a:t>
            </a:r>
            <a:r>
              <a:rPr lang="en-US" dirty="0"/>
              <a:t> showed stronger skills mapping and lower sequential E2E latency.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system successfully demonstrated </a:t>
            </a:r>
            <a:r>
              <a:rPr lang="en-US" b="1" dirty="0"/>
              <a:t>concurrent inference, Kubernetes deployment, and real-time observability</a:t>
            </a:r>
            <a:r>
              <a:rPr lang="en-US" dirty="0"/>
              <a:t> using vLLM, Prometheus, and Grafana.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project highlights that </a:t>
            </a:r>
            <a:r>
              <a:rPr lang="en-US" b="1" dirty="0"/>
              <a:t>model selection depends on both AI quality and operational requirements</a:t>
            </a:r>
            <a:r>
              <a:rPr lang="en-US" dirty="0"/>
              <a:t>, not a single metric.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48B170-7A70-7D93-19DC-2801CF3684FE}"/>
              </a:ext>
            </a:extLst>
          </p:cNvPr>
          <p:cNvSpPr txBox="1"/>
          <p:nvPr/>
        </p:nvSpPr>
        <p:spPr>
          <a:xfrm>
            <a:off x="909387" y="6063420"/>
            <a:ext cx="9989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CTCM turns learning content into structured, measurable, and deployable AI intelligence.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2AC459-5367-4847-A298-61E52AA3BF72}"/>
              </a:ext>
            </a:extLst>
          </p:cNvPr>
          <p:cNvSpPr txBox="1"/>
          <p:nvPr/>
        </p:nvSpPr>
        <p:spPr>
          <a:xfrm>
            <a:off x="3374677" y="6419850"/>
            <a:ext cx="341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Thank You — Team 2 | AIDC 2026</a:t>
            </a:r>
          </a:p>
        </p:txBody>
      </p:sp>
    </p:spTree>
    <p:extLst>
      <p:ext uri="{BB962C8B-B14F-4D97-AF65-F5344CB8AC3E}">
        <p14:creationId xmlns:p14="http://schemas.microsoft.com/office/powerpoint/2010/main" val="39806546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TCM midnight">
      <a:dk1>
        <a:srgbClr val="000000"/>
      </a:dk1>
      <a:lt1>
        <a:srgbClr val="FFFFFF"/>
      </a:lt1>
      <a:dk2>
        <a:srgbClr val="0B1121"/>
      </a:dk2>
      <a:lt2>
        <a:srgbClr val="BFCADC"/>
      </a:lt2>
      <a:accent1>
        <a:srgbClr val="B7A1FF"/>
      </a:accent1>
      <a:accent2>
        <a:srgbClr val="66D9E5"/>
      </a:accent2>
      <a:accent3>
        <a:srgbClr val="8FDFBB"/>
      </a:accent3>
      <a:accent4>
        <a:srgbClr val="F4CF8B"/>
      </a:accent4>
      <a:accent5>
        <a:srgbClr val="FFA4AE"/>
      </a:accent5>
      <a:accent6>
        <a:srgbClr val="7FA5F5"/>
      </a:accent6>
      <a:hlink>
        <a:srgbClr val="66D9E5"/>
      </a:hlink>
      <a:folHlink>
        <a:srgbClr val="B7A1FF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TCM midn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TCM midnight">
      <a:dk1>
        <a:srgbClr val="000000"/>
      </a:dk1>
      <a:lt1>
        <a:srgbClr val="FFFFFF"/>
      </a:lt1>
      <a:dk2>
        <a:srgbClr val="0B1121"/>
      </a:dk2>
      <a:lt2>
        <a:srgbClr val="BFCADC"/>
      </a:lt2>
      <a:accent1>
        <a:srgbClr val="B7A1FF"/>
      </a:accent1>
      <a:accent2>
        <a:srgbClr val="66D9E5"/>
      </a:accent2>
      <a:accent3>
        <a:srgbClr val="8FDFBB"/>
      </a:accent3>
      <a:accent4>
        <a:srgbClr val="F4CF8B"/>
      </a:accent4>
      <a:accent5>
        <a:srgbClr val="FFA4AE"/>
      </a:accent5>
      <a:accent6>
        <a:srgbClr val="7FA5F5"/>
      </a:accent6>
      <a:hlink>
        <a:srgbClr val="66D9E5"/>
      </a:hlink>
      <a:folHlink>
        <a:srgbClr val="B7A1FF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TCM midn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998</Words>
  <Application>Microsoft Office PowerPoint</Application>
  <DocSecurity>0</DocSecurity>
  <PresentationFormat>Widescreen</PresentationFormat>
  <Paragraphs>256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HADEEL F ALMUTAIRI</cp:lastModifiedBy>
  <cp:revision>6</cp:revision>
  <dcterms:created xsi:type="dcterms:W3CDTF">2026-09-29T18:40:45Z</dcterms:created>
  <dcterms:modified xsi:type="dcterms:W3CDTF">2026-09-29T20:32:19Z</dcterms:modified>
</cp:coreProperties>
</file>